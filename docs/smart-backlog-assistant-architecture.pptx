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27" autoAdjust="0"/>
    <p:restoredTop sz="94610"/>
  </p:normalViewPr>
  <p:slideViewPr>
    <p:cSldViewPr snapToGrid="0" snapToObjects="1">
      <p:cViewPr>
        <p:scale>
          <a:sx n="100" d="100"/>
          <a:sy n="100" d="100"/>
        </p:scale>
        <p:origin x="168" y="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602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core MVP1 analysis and review flow. Reviewers paste requirements, NestJS orchestrates Claude API calls, stories stream back via SSE, and approved stories can be exported as JSON.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MVP2 flow: users configure a GitHub Projects v2 board, the NestJS backend communicates with the github-mcp-server subprocess via MCP stdio, which calls GitHub GraphQL API. Approved stories are published as issues. No AI is involved in the GitHub publish step.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1280160"/>
            <a:ext cx="8046720" cy="109728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Smart Backlog Assistant</a:t>
            </a:r>
            <a:endParaRPr lang="en-US" sz="4000" dirty="0"/>
          </a:p>
        </p:txBody>
      </p:sp>
      <p:sp>
        <p:nvSpPr>
          <p:cNvPr id="3" name="Text 1"/>
          <p:cNvSpPr/>
          <p:nvPr/>
        </p:nvSpPr>
        <p:spPr>
          <a:xfrm>
            <a:off x="548640" y="2377440"/>
            <a:ext cx="8046720" cy="640080"/>
          </a:xfrm>
          <a:prstGeom prst="rect">
            <a:avLst/>
          </a:prstGeom>
          <a:noFill/>
          <a:ln/>
        </p:spPr>
        <p:txBody>
          <a:bodyPr wrap="square" rtlCol="0" anchor="ctr"/>
          <a:lstStyle/>
          <a:p>
            <a:pPr marL="0" indent="0" algn="ctr">
              <a:buNone/>
            </a:pPr>
            <a:r>
              <a:rPr lang="en-US" sz="2400" dirty="0">
                <a:solidFill>
                  <a:srgbClr val="CADCFC"/>
                </a:solidFill>
                <a:latin typeface="Calibri" pitchFamily="34" charset="0"/>
                <a:ea typeface="Calibri" pitchFamily="34" charset="-122"/>
                <a:cs typeface="Calibri" pitchFamily="34" charset="-120"/>
              </a:rPr>
              <a:t>Architecture Overview</a:t>
            </a:r>
            <a:endParaRPr lang="en-US" sz="2400" dirty="0"/>
          </a:p>
        </p:txBody>
      </p:sp>
      <p:sp>
        <p:nvSpPr>
          <p:cNvPr id="4" name="Text 2"/>
          <p:cNvSpPr/>
          <p:nvPr/>
        </p:nvSpPr>
        <p:spPr>
          <a:xfrm>
            <a:off x="548640" y="3200400"/>
            <a:ext cx="8046720" cy="457200"/>
          </a:xfrm>
          <a:prstGeom prst="rect">
            <a:avLst/>
          </a:prstGeom>
          <a:noFill/>
          <a:ln/>
        </p:spPr>
        <p:txBody>
          <a:bodyPr wrap="square" rtlCol="0" anchor="ctr"/>
          <a:lstStyle/>
          <a:p>
            <a:pPr marL="0" indent="0" algn="ctr">
              <a:buNone/>
            </a:pPr>
            <a:r>
              <a:rPr lang="en-US" sz="1400" dirty="0">
                <a:solidFill>
                  <a:srgbClr val="8FB0E0"/>
                </a:solidFill>
                <a:latin typeface="Calibri" pitchFamily="34" charset="0"/>
                <a:ea typeface="Calibri" pitchFamily="34" charset="-122"/>
                <a:cs typeface="Calibri" pitchFamily="34" charset="-120"/>
              </a:rPr>
              <a:t>Angular 17  ·  NestJS 10  ·  Claude AI  ·  GitHub Projects v2</a:t>
            </a:r>
            <a:endParaRPr lang="en-US" sz="1400" dirty="0"/>
          </a:p>
        </p:txBody>
      </p:sp>
      <p:sp>
        <p:nvSpPr>
          <p:cNvPr id="5" name="Shape 3"/>
          <p:cNvSpPr/>
          <p:nvPr/>
        </p:nvSpPr>
        <p:spPr>
          <a:xfrm>
            <a:off x="868680" y="4206240"/>
            <a:ext cx="1645920" cy="347472"/>
          </a:xfrm>
          <a:prstGeom prst="roundRect">
            <a:avLst>
              <a:gd name="adj" fmla="val 21053"/>
            </a:avLst>
          </a:prstGeom>
          <a:solidFill>
            <a:srgbClr val="028090"/>
          </a:solidFill>
          <a:ln/>
        </p:spPr>
        <p:txBody>
          <a:bodyPr/>
          <a:lstStyle/>
          <a:p>
            <a:endParaRPr lang="en-US"/>
          </a:p>
        </p:txBody>
      </p:sp>
      <p:sp>
        <p:nvSpPr>
          <p:cNvPr id="6" name="Text 4"/>
          <p:cNvSpPr/>
          <p:nvPr/>
        </p:nvSpPr>
        <p:spPr>
          <a:xfrm>
            <a:off x="868680" y="4206240"/>
            <a:ext cx="164592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Frontend</a:t>
            </a:r>
            <a:endParaRPr lang="en-US" sz="1100" dirty="0"/>
          </a:p>
        </p:txBody>
      </p:sp>
      <p:sp>
        <p:nvSpPr>
          <p:cNvPr id="7" name="Shape 5"/>
          <p:cNvSpPr/>
          <p:nvPr/>
        </p:nvSpPr>
        <p:spPr>
          <a:xfrm>
            <a:off x="2788920" y="4206240"/>
            <a:ext cx="1645920" cy="347472"/>
          </a:xfrm>
          <a:prstGeom prst="roundRect">
            <a:avLst>
              <a:gd name="adj" fmla="val 21053"/>
            </a:avLst>
          </a:prstGeom>
          <a:solidFill>
            <a:srgbClr val="5B21B6"/>
          </a:solidFill>
          <a:ln/>
        </p:spPr>
        <p:txBody>
          <a:bodyPr/>
          <a:lstStyle/>
          <a:p>
            <a:endParaRPr lang="en-US"/>
          </a:p>
        </p:txBody>
      </p:sp>
      <p:sp>
        <p:nvSpPr>
          <p:cNvPr id="8" name="Text 6"/>
          <p:cNvSpPr/>
          <p:nvPr/>
        </p:nvSpPr>
        <p:spPr>
          <a:xfrm>
            <a:off x="2788920" y="4206240"/>
            <a:ext cx="164592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Backend</a:t>
            </a:r>
            <a:endParaRPr lang="en-US" sz="1100" dirty="0"/>
          </a:p>
        </p:txBody>
      </p:sp>
      <p:sp>
        <p:nvSpPr>
          <p:cNvPr id="9" name="Shape 7"/>
          <p:cNvSpPr/>
          <p:nvPr/>
        </p:nvSpPr>
        <p:spPr>
          <a:xfrm>
            <a:off x="4709160" y="4206240"/>
            <a:ext cx="1645920" cy="347472"/>
          </a:xfrm>
          <a:prstGeom prst="roundRect">
            <a:avLst>
              <a:gd name="adj" fmla="val 21053"/>
            </a:avLst>
          </a:prstGeom>
          <a:solidFill>
            <a:srgbClr val="D97706"/>
          </a:solidFill>
          <a:ln/>
        </p:spPr>
        <p:txBody>
          <a:bodyPr/>
          <a:lstStyle/>
          <a:p>
            <a:endParaRPr lang="en-US"/>
          </a:p>
        </p:txBody>
      </p:sp>
      <p:sp>
        <p:nvSpPr>
          <p:cNvPr id="10" name="Text 8"/>
          <p:cNvSpPr/>
          <p:nvPr/>
        </p:nvSpPr>
        <p:spPr>
          <a:xfrm>
            <a:off x="4709160" y="4206240"/>
            <a:ext cx="164592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AI / External ★</a:t>
            </a:r>
            <a:endParaRPr lang="en-US" sz="1100" dirty="0"/>
          </a:p>
        </p:txBody>
      </p:sp>
      <p:sp>
        <p:nvSpPr>
          <p:cNvPr id="11" name="Shape 9"/>
          <p:cNvSpPr/>
          <p:nvPr/>
        </p:nvSpPr>
        <p:spPr>
          <a:xfrm>
            <a:off x="6629400" y="4206240"/>
            <a:ext cx="1645920" cy="347472"/>
          </a:xfrm>
          <a:prstGeom prst="roundRect">
            <a:avLst>
              <a:gd name="adj" fmla="val 21053"/>
            </a:avLst>
          </a:prstGeom>
          <a:solidFill>
            <a:srgbClr val="C2410C"/>
          </a:solidFill>
          <a:ln/>
        </p:spPr>
        <p:txBody>
          <a:bodyPr/>
          <a:lstStyle/>
          <a:p>
            <a:endParaRPr lang="en-US"/>
          </a:p>
        </p:txBody>
      </p:sp>
      <p:sp>
        <p:nvSpPr>
          <p:cNvPr id="12" name="Text 10"/>
          <p:cNvSpPr/>
          <p:nvPr/>
        </p:nvSpPr>
        <p:spPr>
          <a:xfrm>
            <a:off x="6629400" y="4206240"/>
            <a:ext cx="164592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GitHub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800" b="1" dirty="0">
                <a:solidFill>
                  <a:srgbClr val="1E2761"/>
                </a:solidFill>
                <a:latin typeface="Calibri" pitchFamily="34" charset="0"/>
                <a:ea typeface="Calibri" pitchFamily="34" charset="-122"/>
                <a:cs typeface="Calibri" pitchFamily="34" charset="-120"/>
              </a:rPr>
              <a:t>Main Components</a:t>
            </a:r>
            <a:endParaRPr lang="en-US" sz="2800" dirty="0"/>
          </a:p>
        </p:txBody>
      </p:sp>
      <p:sp>
        <p:nvSpPr>
          <p:cNvPr id="3" name="Shape 1"/>
          <p:cNvSpPr/>
          <p:nvPr/>
        </p:nvSpPr>
        <p:spPr>
          <a:xfrm>
            <a:off x="274320" y="960120"/>
            <a:ext cx="1005840" cy="1005840"/>
          </a:xfrm>
          <a:prstGeom prst="ellipse">
            <a:avLst/>
          </a:prstGeom>
          <a:solidFill>
            <a:srgbClr val="F3F4F6"/>
          </a:solidFill>
          <a:ln w="19050">
            <a:solidFill>
              <a:srgbClr val="374151"/>
            </a:solidFill>
            <a:prstDash val="solid"/>
          </a:ln>
        </p:spPr>
        <p:txBody>
          <a:bodyPr/>
          <a:lstStyle/>
          <a:p>
            <a:endParaRPr lang="en-US"/>
          </a:p>
        </p:txBody>
      </p:sp>
      <p:sp>
        <p:nvSpPr>
          <p:cNvPr id="4" name="Text 2"/>
          <p:cNvSpPr/>
          <p:nvPr/>
        </p:nvSpPr>
        <p:spPr>
          <a:xfrm>
            <a:off x="274320" y="960120"/>
            <a:ext cx="1005840" cy="1005840"/>
          </a:xfrm>
          <a:prstGeom prst="rect">
            <a:avLst/>
          </a:prstGeom>
          <a:noFill/>
          <a:ln/>
        </p:spPr>
        <p:txBody>
          <a:bodyPr wrap="square" rtlCol="0" anchor="ctr"/>
          <a:lstStyle/>
          <a:p>
            <a:pPr marL="0" indent="0" algn="ctr">
              <a:buNone/>
            </a:pPr>
            <a:r>
              <a:rPr lang="en-US" sz="1000" b="1" dirty="0">
                <a:solidFill>
                  <a:srgbClr val="1F2937"/>
                </a:solidFill>
                <a:latin typeface="Calibri" pitchFamily="34" charset="0"/>
                <a:ea typeface="Calibri" pitchFamily="34" charset="-122"/>
                <a:cs typeface="Calibri" pitchFamily="34" charset="-120"/>
              </a:rPr>
              <a:t>Reviewer</a:t>
            </a:r>
            <a:endParaRPr lang="en-US" sz="1000" dirty="0"/>
          </a:p>
        </p:txBody>
      </p:sp>
      <p:sp>
        <p:nvSpPr>
          <p:cNvPr id="5" name="Shape 3"/>
          <p:cNvSpPr/>
          <p:nvPr/>
        </p:nvSpPr>
        <p:spPr>
          <a:xfrm>
            <a:off x="1508760" y="804672"/>
            <a:ext cx="7223760" cy="1280160"/>
          </a:xfrm>
          <a:prstGeom prst="roundRect">
            <a:avLst>
              <a:gd name="adj" fmla="val 10000"/>
            </a:avLst>
          </a:prstGeom>
          <a:solidFill>
            <a:srgbClr val="E0F4F6"/>
          </a:solidFill>
          <a:ln w="19050">
            <a:solidFill>
              <a:srgbClr val="028090"/>
            </a:solidFill>
            <a:prstDash val="solid"/>
          </a:ln>
        </p:spPr>
        <p:txBody>
          <a:bodyPr/>
          <a:lstStyle/>
          <a:p>
            <a:endParaRPr lang="en-US"/>
          </a:p>
        </p:txBody>
      </p:sp>
      <p:sp>
        <p:nvSpPr>
          <p:cNvPr id="6" name="Text 4"/>
          <p:cNvSpPr/>
          <p:nvPr/>
        </p:nvSpPr>
        <p:spPr>
          <a:xfrm>
            <a:off x="1600200" y="822960"/>
            <a:ext cx="2743200" cy="256032"/>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Angular 17 Frontend</a:t>
            </a:r>
            <a:endParaRPr lang="en-US" sz="1100" dirty="0"/>
          </a:p>
        </p:txBody>
      </p:sp>
      <p:sp>
        <p:nvSpPr>
          <p:cNvPr id="7" name="Shape 5"/>
          <p:cNvSpPr/>
          <p:nvPr/>
        </p:nvSpPr>
        <p:spPr>
          <a:xfrm>
            <a:off x="1600200" y="1133856"/>
            <a:ext cx="1554480" cy="658368"/>
          </a:xfrm>
          <a:prstGeom prst="roundRect">
            <a:avLst>
              <a:gd name="adj" fmla="val 11111"/>
            </a:avLst>
          </a:prstGeom>
          <a:solidFill>
            <a:srgbClr val="028090"/>
          </a:solidFill>
          <a:ln/>
        </p:spPr>
        <p:txBody>
          <a:bodyPr/>
          <a:lstStyle/>
          <a:p>
            <a:endParaRPr lang="en-US"/>
          </a:p>
        </p:txBody>
      </p:sp>
      <p:sp>
        <p:nvSpPr>
          <p:cNvPr id="8" name="Text 6"/>
          <p:cNvSpPr/>
          <p:nvPr/>
        </p:nvSpPr>
        <p:spPr>
          <a:xfrm>
            <a:off x="1600200" y="1133856"/>
            <a:ext cx="1554480"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Input / Analysis</a:t>
            </a:r>
            <a:endParaRPr lang="en-US" sz="1000" dirty="0"/>
          </a:p>
        </p:txBody>
      </p:sp>
      <p:sp>
        <p:nvSpPr>
          <p:cNvPr id="9" name="Shape 7"/>
          <p:cNvSpPr/>
          <p:nvPr/>
        </p:nvSpPr>
        <p:spPr>
          <a:xfrm>
            <a:off x="3300984" y="1133856"/>
            <a:ext cx="1554480" cy="658368"/>
          </a:xfrm>
          <a:prstGeom prst="roundRect">
            <a:avLst>
              <a:gd name="adj" fmla="val 11111"/>
            </a:avLst>
          </a:prstGeom>
          <a:solidFill>
            <a:srgbClr val="028090"/>
          </a:solidFill>
          <a:ln/>
        </p:spPr>
        <p:txBody>
          <a:bodyPr/>
          <a:lstStyle/>
          <a:p>
            <a:endParaRPr lang="en-US"/>
          </a:p>
        </p:txBody>
      </p:sp>
      <p:sp>
        <p:nvSpPr>
          <p:cNvPr id="10" name="Text 8"/>
          <p:cNvSpPr/>
          <p:nvPr/>
        </p:nvSpPr>
        <p:spPr>
          <a:xfrm>
            <a:off x="3300984" y="1133856"/>
            <a:ext cx="1554480"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Review / Tasks</a:t>
            </a:r>
            <a:endParaRPr lang="en-US" sz="1000" dirty="0"/>
          </a:p>
        </p:txBody>
      </p:sp>
      <p:sp>
        <p:nvSpPr>
          <p:cNvPr id="11" name="Shape 9"/>
          <p:cNvSpPr/>
          <p:nvPr/>
        </p:nvSpPr>
        <p:spPr>
          <a:xfrm>
            <a:off x="5001768" y="1133856"/>
            <a:ext cx="1554480" cy="658368"/>
          </a:xfrm>
          <a:prstGeom prst="roundRect">
            <a:avLst>
              <a:gd name="adj" fmla="val 11111"/>
            </a:avLst>
          </a:prstGeom>
          <a:solidFill>
            <a:srgbClr val="028090"/>
          </a:solidFill>
          <a:ln/>
        </p:spPr>
        <p:txBody>
          <a:bodyPr/>
          <a:lstStyle/>
          <a:p>
            <a:endParaRPr lang="en-US"/>
          </a:p>
        </p:txBody>
      </p:sp>
      <p:sp>
        <p:nvSpPr>
          <p:cNvPr id="12" name="Text 10"/>
          <p:cNvSpPr/>
          <p:nvPr/>
        </p:nvSpPr>
        <p:spPr>
          <a:xfrm>
            <a:off x="5001768" y="1133856"/>
            <a:ext cx="1554480"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Publish / Backlog</a:t>
            </a:r>
            <a:endParaRPr lang="en-US" sz="1000" dirty="0"/>
          </a:p>
        </p:txBody>
      </p:sp>
      <p:sp>
        <p:nvSpPr>
          <p:cNvPr id="13" name="Shape 11"/>
          <p:cNvSpPr/>
          <p:nvPr/>
        </p:nvSpPr>
        <p:spPr>
          <a:xfrm>
            <a:off x="6702552" y="1133856"/>
            <a:ext cx="1554480" cy="658368"/>
          </a:xfrm>
          <a:prstGeom prst="roundRect">
            <a:avLst>
              <a:gd name="adj" fmla="val 11111"/>
            </a:avLst>
          </a:prstGeom>
          <a:solidFill>
            <a:srgbClr val="028090"/>
          </a:solidFill>
          <a:ln/>
        </p:spPr>
        <p:txBody>
          <a:bodyPr/>
          <a:lstStyle/>
          <a:p>
            <a:endParaRPr lang="en-US"/>
          </a:p>
        </p:txBody>
      </p:sp>
      <p:sp>
        <p:nvSpPr>
          <p:cNvPr id="14" name="Text 12"/>
          <p:cNvSpPr/>
          <p:nvPr/>
        </p:nvSpPr>
        <p:spPr>
          <a:xfrm>
            <a:off x="6702552" y="1133856"/>
            <a:ext cx="1554480"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Session State</a:t>
            </a:r>
            <a:endParaRPr lang="en-US" sz="1000" dirty="0"/>
          </a:p>
        </p:txBody>
      </p:sp>
      <p:sp>
        <p:nvSpPr>
          <p:cNvPr id="15" name="Shape 13"/>
          <p:cNvSpPr/>
          <p:nvPr/>
        </p:nvSpPr>
        <p:spPr>
          <a:xfrm>
            <a:off x="274320" y="2286000"/>
            <a:ext cx="8458200" cy="2148840"/>
          </a:xfrm>
          <a:prstGeom prst="roundRect">
            <a:avLst>
              <a:gd name="adj" fmla="val 5957"/>
            </a:avLst>
          </a:prstGeom>
          <a:solidFill>
            <a:srgbClr val="EDE9FE"/>
          </a:solidFill>
          <a:ln w="19050">
            <a:solidFill>
              <a:srgbClr val="5B21B6"/>
            </a:solidFill>
            <a:prstDash val="solid"/>
          </a:ln>
        </p:spPr>
        <p:txBody>
          <a:bodyPr/>
          <a:lstStyle/>
          <a:p>
            <a:endParaRPr lang="en-US"/>
          </a:p>
        </p:txBody>
      </p:sp>
      <p:sp>
        <p:nvSpPr>
          <p:cNvPr id="16" name="Text 14"/>
          <p:cNvSpPr/>
          <p:nvPr/>
        </p:nvSpPr>
        <p:spPr>
          <a:xfrm>
            <a:off x="411480" y="2313432"/>
            <a:ext cx="4572000" cy="256032"/>
          </a:xfrm>
          <a:prstGeom prst="rect">
            <a:avLst/>
          </a:prstGeom>
          <a:noFill/>
          <a:ln/>
        </p:spPr>
        <p:txBody>
          <a:bodyPr wrap="square" rtlCol="0" anchor="ctr"/>
          <a:lstStyle/>
          <a:p>
            <a:pPr marL="0" indent="0">
              <a:buNone/>
            </a:pPr>
            <a:r>
              <a:rPr lang="en-US" sz="1100" b="1" dirty="0">
                <a:solidFill>
                  <a:srgbClr val="5B21B6"/>
                </a:solidFill>
                <a:latin typeface="Calibri" pitchFamily="34" charset="0"/>
                <a:ea typeface="Calibri" pitchFamily="34" charset="-122"/>
                <a:cs typeface="Calibri" pitchFamily="34" charset="-120"/>
              </a:rPr>
              <a:t>NestJS 10 Backend  ·  localhost:3000</a:t>
            </a:r>
            <a:endParaRPr lang="en-US" sz="1100" dirty="0"/>
          </a:p>
        </p:txBody>
      </p:sp>
      <p:sp>
        <p:nvSpPr>
          <p:cNvPr id="17" name="Shape 15"/>
          <p:cNvSpPr/>
          <p:nvPr/>
        </p:nvSpPr>
        <p:spPr>
          <a:xfrm>
            <a:off x="384048" y="2651760"/>
            <a:ext cx="1920240" cy="713232"/>
          </a:xfrm>
          <a:prstGeom prst="roundRect">
            <a:avLst>
              <a:gd name="adj" fmla="val 10256"/>
            </a:avLst>
          </a:prstGeom>
          <a:solidFill>
            <a:srgbClr val="5B21B6"/>
          </a:solidFill>
          <a:ln/>
        </p:spPr>
        <p:txBody>
          <a:bodyPr/>
          <a:lstStyle/>
          <a:p>
            <a:endParaRPr lang="en-US"/>
          </a:p>
        </p:txBody>
      </p:sp>
      <p:sp>
        <p:nvSpPr>
          <p:cNvPr id="18" name="Text 16"/>
          <p:cNvSpPr/>
          <p:nvPr/>
        </p:nvSpPr>
        <p:spPr>
          <a:xfrm>
            <a:off x="457200" y="2706624"/>
            <a:ext cx="1773936"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AnalyseModule</a:t>
            </a:r>
            <a:endParaRPr lang="en-US" sz="1000" dirty="0"/>
          </a:p>
        </p:txBody>
      </p:sp>
      <p:sp>
        <p:nvSpPr>
          <p:cNvPr id="19" name="Text 17"/>
          <p:cNvSpPr/>
          <p:nvPr/>
        </p:nvSpPr>
        <p:spPr>
          <a:xfrm>
            <a:off x="457200" y="2962656"/>
            <a:ext cx="1773936" cy="347472"/>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Orchestrates analysis</a:t>
            </a:r>
            <a:endParaRPr lang="en-US" sz="900" dirty="0"/>
          </a:p>
        </p:txBody>
      </p:sp>
      <p:sp>
        <p:nvSpPr>
          <p:cNvPr id="20" name="Shape 18"/>
          <p:cNvSpPr/>
          <p:nvPr/>
        </p:nvSpPr>
        <p:spPr>
          <a:xfrm>
            <a:off x="2414016" y="2651760"/>
            <a:ext cx="1920240" cy="713232"/>
          </a:xfrm>
          <a:prstGeom prst="roundRect">
            <a:avLst>
              <a:gd name="adj" fmla="val 10256"/>
            </a:avLst>
          </a:prstGeom>
          <a:solidFill>
            <a:srgbClr val="D97706"/>
          </a:solidFill>
          <a:ln/>
        </p:spPr>
        <p:txBody>
          <a:bodyPr/>
          <a:lstStyle/>
          <a:p>
            <a:endParaRPr lang="en-US"/>
          </a:p>
        </p:txBody>
      </p:sp>
      <p:sp>
        <p:nvSpPr>
          <p:cNvPr id="21" name="Text 19"/>
          <p:cNvSpPr/>
          <p:nvPr/>
        </p:nvSpPr>
        <p:spPr>
          <a:xfrm>
            <a:off x="2487168" y="2706624"/>
            <a:ext cx="1773936"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AiModule ★</a:t>
            </a:r>
            <a:endParaRPr lang="en-US" sz="1000" dirty="0"/>
          </a:p>
        </p:txBody>
      </p:sp>
      <p:sp>
        <p:nvSpPr>
          <p:cNvPr id="22" name="Text 20"/>
          <p:cNvSpPr/>
          <p:nvPr/>
        </p:nvSpPr>
        <p:spPr>
          <a:xfrm>
            <a:off x="2487168" y="2962656"/>
            <a:ext cx="1773936" cy="347472"/>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Calls Claude API</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Streams via SSE</a:t>
            </a:r>
            <a:endParaRPr lang="en-US" sz="900" dirty="0"/>
          </a:p>
        </p:txBody>
      </p:sp>
      <p:sp>
        <p:nvSpPr>
          <p:cNvPr id="23" name="Shape 21"/>
          <p:cNvSpPr/>
          <p:nvPr/>
        </p:nvSpPr>
        <p:spPr>
          <a:xfrm>
            <a:off x="4443984" y="2651760"/>
            <a:ext cx="1920240" cy="713232"/>
          </a:xfrm>
          <a:prstGeom prst="roundRect">
            <a:avLst>
              <a:gd name="adj" fmla="val 10256"/>
            </a:avLst>
          </a:prstGeom>
          <a:solidFill>
            <a:srgbClr val="5B21B6"/>
          </a:solidFill>
          <a:ln/>
        </p:spPr>
        <p:txBody>
          <a:bodyPr/>
          <a:lstStyle/>
          <a:p>
            <a:endParaRPr lang="en-US"/>
          </a:p>
        </p:txBody>
      </p:sp>
      <p:sp>
        <p:nvSpPr>
          <p:cNvPr id="24" name="Text 22"/>
          <p:cNvSpPr/>
          <p:nvPr/>
        </p:nvSpPr>
        <p:spPr>
          <a:xfrm>
            <a:off x="4517136" y="2706624"/>
            <a:ext cx="1773936"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RegenerateModule</a:t>
            </a:r>
            <a:endParaRPr lang="en-US" sz="1000" dirty="0"/>
          </a:p>
        </p:txBody>
      </p:sp>
      <p:sp>
        <p:nvSpPr>
          <p:cNvPr id="25" name="Text 23"/>
          <p:cNvSpPr/>
          <p:nvPr/>
        </p:nvSpPr>
        <p:spPr>
          <a:xfrm>
            <a:off x="4517136" y="2962656"/>
            <a:ext cx="1773936" cy="347472"/>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Reviewer feedback loop</a:t>
            </a:r>
            <a:endParaRPr lang="en-US" sz="900" dirty="0"/>
          </a:p>
        </p:txBody>
      </p:sp>
      <p:sp>
        <p:nvSpPr>
          <p:cNvPr id="26" name="Shape 24"/>
          <p:cNvSpPr/>
          <p:nvPr/>
        </p:nvSpPr>
        <p:spPr>
          <a:xfrm>
            <a:off x="6473952" y="2651760"/>
            <a:ext cx="1920240" cy="713232"/>
          </a:xfrm>
          <a:prstGeom prst="roundRect">
            <a:avLst>
              <a:gd name="adj" fmla="val 10256"/>
            </a:avLst>
          </a:prstGeom>
          <a:solidFill>
            <a:srgbClr val="5B21B6"/>
          </a:solidFill>
          <a:ln/>
        </p:spPr>
        <p:txBody>
          <a:bodyPr/>
          <a:lstStyle/>
          <a:p>
            <a:endParaRPr lang="en-US"/>
          </a:p>
        </p:txBody>
      </p:sp>
      <p:sp>
        <p:nvSpPr>
          <p:cNvPr id="27" name="Text 25"/>
          <p:cNvSpPr/>
          <p:nvPr/>
        </p:nvSpPr>
        <p:spPr>
          <a:xfrm>
            <a:off x="6547104" y="2706624"/>
            <a:ext cx="1773936"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PdfModule</a:t>
            </a:r>
            <a:endParaRPr lang="en-US" sz="1000" dirty="0"/>
          </a:p>
        </p:txBody>
      </p:sp>
      <p:sp>
        <p:nvSpPr>
          <p:cNvPr id="28" name="Text 26"/>
          <p:cNvSpPr/>
          <p:nvPr/>
        </p:nvSpPr>
        <p:spPr>
          <a:xfrm>
            <a:off x="6547104" y="2962656"/>
            <a:ext cx="1773936" cy="347472"/>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PDF text extraction</a:t>
            </a:r>
            <a:endParaRPr lang="en-US" sz="900" dirty="0"/>
          </a:p>
        </p:txBody>
      </p:sp>
      <p:sp>
        <p:nvSpPr>
          <p:cNvPr id="29" name="Shape 27"/>
          <p:cNvSpPr/>
          <p:nvPr/>
        </p:nvSpPr>
        <p:spPr>
          <a:xfrm>
            <a:off x="384048" y="3493008"/>
            <a:ext cx="2286000" cy="658368"/>
          </a:xfrm>
          <a:prstGeom prst="roundRect">
            <a:avLst>
              <a:gd name="adj" fmla="val 11111"/>
            </a:avLst>
          </a:prstGeom>
          <a:solidFill>
            <a:srgbClr val="C2410C"/>
          </a:solidFill>
          <a:ln/>
        </p:spPr>
        <p:txBody>
          <a:bodyPr/>
          <a:lstStyle/>
          <a:p>
            <a:endParaRPr lang="en-US"/>
          </a:p>
        </p:txBody>
      </p:sp>
      <p:sp>
        <p:nvSpPr>
          <p:cNvPr id="30" name="Text 28"/>
          <p:cNvSpPr/>
          <p:nvPr/>
        </p:nvSpPr>
        <p:spPr>
          <a:xfrm>
            <a:off x="457200" y="3547872"/>
            <a:ext cx="2139696"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GithubMcpModule ★</a:t>
            </a:r>
            <a:endParaRPr lang="en-US" sz="1000" dirty="0"/>
          </a:p>
        </p:txBody>
      </p:sp>
      <p:sp>
        <p:nvSpPr>
          <p:cNvPr id="31" name="Text 29"/>
          <p:cNvSpPr/>
          <p:nvPr/>
        </p:nvSpPr>
        <p:spPr>
          <a:xfrm>
            <a:off x="457200" y="3803904"/>
            <a:ext cx="2139696" cy="27432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stdio MCP client</a:t>
            </a:r>
            <a:endParaRPr lang="en-US" sz="900" dirty="0"/>
          </a:p>
        </p:txBody>
      </p:sp>
      <p:sp>
        <p:nvSpPr>
          <p:cNvPr id="32" name="Shape 30"/>
          <p:cNvSpPr/>
          <p:nvPr/>
        </p:nvSpPr>
        <p:spPr>
          <a:xfrm>
            <a:off x="2779776" y="3493008"/>
            <a:ext cx="2468880" cy="658368"/>
          </a:xfrm>
          <a:prstGeom prst="roundRect">
            <a:avLst>
              <a:gd name="adj" fmla="val 11111"/>
            </a:avLst>
          </a:prstGeom>
          <a:solidFill>
            <a:srgbClr val="374151"/>
          </a:solidFill>
          <a:ln/>
        </p:spPr>
        <p:txBody>
          <a:bodyPr/>
          <a:lstStyle/>
          <a:p>
            <a:endParaRPr lang="en-US"/>
          </a:p>
        </p:txBody>
      </p:sp>
      <p:sp>
        <p:nvSpPr>
          <p:cNvPr id="33" name="Text 31"/>
          <p:cNvSpPr/>
          <p:nvPr/>
        </p:nvSpPr>
        <p:spPr>
          <a:xfrm>
            <a:off x="2852928" y="3547872"/>
            <a:ext cx="2322576"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GithubProjectsModule</a:t>
            </a:r>
            <a:endParaRPr lang="en-US" sz="1000" dirty="0"/>
          </a:p>
        </p:txBody>
      </p:sp>
      <p:sp>
        <p:nvSpPr>
          <p:cNvPr id="34" name="Text 32"/>
          <p:cNvSpPr/>
          <p:nvPr/>
        </p:nvSpPr>
        <p:spPr>
          <a:xfrm>
            <a:off x="2852928" y="3803904"/>
            <a:ext cx="2322576" cy="27432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Publish issues to board</a:t>
            </a:r>
            <a:endParaRPr lang="en-US" sz="900" dirty="0"/>
          </a:p>
        </p:txBody>
      </p:sp>
      <p:sp>
        <p:nvSpPr>
          <p:cNvPr id="35" name="Shape 33"/>
          <p:cNvSpPr/>
          <p:nvPr/>
        </p:nvSpPr>
        <p:spPr>
          <a:xfrm>
            <a:off x="5358384" y="3493008"/>
            <a:ext cx="1828800" cy="658368"/>
          </a:xfrm>
          <a:prstGeom prst="roundRect">
            <a:avLst>
              <a:gd name="adj" fmla="val 11111"/>
            </a:avLst>
          </a:prstGeom>
          <a:solidFill>
            <a:srgbClr val="374151"/>
          </a:solidFill>
          <a:ln/>
        </p:spPr>
        <p:txBody>
          <a:bodyPr/>
          <a:lstStyle/>
          <a:p>
            <a:endParaRPr lang="en-US"/>
          </a:p>
        </p:txBody>
      </p:sp>
      <p:sp>
        <p:nvSpPr>
          <p:cNvPr id="36" name="Text 34"/>
          <p:cNvSpPr/>
          <p:nvPr/>
        </p:nvSpPr>
        <p:spPr>
          <a:xfrm>
            <a:off x="5431536" y="3547872"/>
            <a:ext cx="1682496"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OverlapModule</a:t>
            </a:r>
            <a:endParaRPr lang="en-US" sz="1000" dirty="0"/>
          </a:p>
        </p:txBody>
      </p:sp>
      <p:sp>
        <p:nvSpPr>
          <p:cNvPr id="37" name="Text 35"/>
          <p:cNvSpPr/>
          <p:nvPr/>
        </p:nvSpPr>
        <p:spPr>
          <a:xfrm>
            <a:off x="5431536" y="3803904"/>
            <a:ext cx="1682496" cy="27432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Dedup — no AI</a:t>
            </a:r>
            <a:endParaRPr lang="en-US" sz="900" dirty="0"/>
          </a:p>
        </p:txBody>
      </p:sp>
      <p:sp>
        <p:nvSpPr>
          <p:cNvPr id="38" name="Shape 36"/>
          <p:cNvSpPr/>
          <p:nvPr/>
        </p:nvSpPr>
        <p:spPr>
          <a:xfrm>
            <a:off x="7296912" y="3493008"/>
            <a:ext cx="1389888" cy="658368"/>
          </a:xfrm>
          <a:prstGeom prst="roundRect">
            <a:avLst>
              <a:gd name="adj" fmla="val 11111"/>
            </a:avLst>
          </a:prstGeom>
          <a:solidFill>
            <a:srgbClr val="374151"/>
          </a:solidFill>
          <a:ln/>
        </p:spPr>
        <p:txBody>
          <a:bodyPr/>
          <a:lstStyle/>
          <a:p>
            <a:endParaRPr lang="en-US"/>
          </a:p>
        </p:txBody>
      </p:sp>
      <p:sp>
        <p:nvSpPr>
          <p:cNvPr id="39" name="Text 37"/>
          <p:cNvSpPr/>
          <p:nvPr/>
        </p:nvSpPr>
        <p:spPr>
          <a:xfrm>
            <a:off x="7370064" y="3547872"/>
            <a:ext cx="1499616"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ServeStatic</a:t>
            </a:r>
            <a:endParaRPr lang="en-US" sz="1000" dirty="0"/>
          </a:p>
        </p:txBody>
      </p:sp>
      <p:sp>
        <p:nvSpPr>
          <p:cNvPr id="40" name="Text 38"/>
          <p:cNvSpPr/>
          <p:nvPr/>
        </p:nvSpPr>
        <p:spPr>
          <a:xfrm>
            <a:off x="7370064" y="3803904"/>
            <a:ext cx="1499616" cy="27432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Serves Angular build</a:t>
            </a:r>
            <a:endParaRPr lang="en-US" sz="900" dirty="0"/>
          </a:p>
        </p:txBody>
      </p:sp>
      <p:sp>
        <p:nvSpPr>
          <p:cNvPr id="41" name="Shape 39"/>
          <p:cNvSpPr/>
          <p:nvPr/>
        </p:nvSpPr>
        <p:spPr>
          <a:xfrm>
            <a:off x="274320" y="4572000"/>
            <a:ext cx="8458200" cy="402336"/>
          </a:xfrm>
          <a:prstGeom prst="roundRect">
            <a:avLst>
              <a:gd name="adj" fmla="val 18182"/>
            </a:avLst>
          </a:prstGeom>
          <a:solidFill>
            <a:srgbClr val="F3F4F6"/>
          </a:solidFill>
          <a:ln w="9525">
            <a:solidFill>
              <a:srgbClr val="6B7280"/>
            </a:solidFill>
            <a:prstDash val="dash"/>
          </a:ln>
        </p:spPr>
        <p:txBody>
          <a:bodyPr/>
          <a:lstStyle/>
          <a:p>
            <a:endParaRPr lang="en-US"/>
          </a:p>
        </p:txBody>
      </p:sp>
      <p:sp>
        <p:nvSpPr>
          <p:cNvPr id="42" name="Text 40"/>
          <p:cNvSpPr/>
          <p:nvPr/>
        </p:nvSpPr>
        <p:spPr>
          <a:xfrm>
            <a:off x="411480" y="4572000"/>
            <a:ext cx="8229600" cy="402336"/>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libs/shared (Nx)  —  entities · DTOs · enums · constants shared across frontend &amp; backend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457200"/>
          </a:xfrm>
          <a:prstGeom prst="rect">
            <a:avLst/>
          </a:prstGeom>
          <a:noFill/>
          <a:ln/>
        </p:spPr>
        <p:txBody>
          <a:bodyPr wrap="square" rtlCol="0" anchor="ctr"/>
          <a:lstStyle/>
          <a:p>
            <a:pPr marL="0" indent="0">
              <a:buNone/>
            </a:pPr>
            <a:r>
              <a:rPr lang="en-US" sz="2600" b="1" dirty="0">
                <a:solidFill>
                  <a:srgbClr val="1E2761"/>
                </a:solidFill>
                <a:latin typeface="Calibri" pitchFamily="34" charset="0"/>
                <a:ea typeface="Calibri" pitchFamily="34" charset="-122"/>
                <a:cs typeface="Calibri" pitchFamily="34" charset="-120"/>
              </a:rPr>
              <a:t>Data Flow — Core Analysis (MVP1)</a:t>
            </a:r>
            <a:endParaRPr lang="en-US" sz="2600" dirty="0"/>
          </a:p>
        </p:txBody>
      </p:sp>
      <p:sp>
        <p:nvSpPr>
          <p:cNvPr id="3" name="Shape 1"/>
          <p:cNvSpPr/>
          <p:nvPr/>
        </p:nvSpPr>
        <p:spPr>
          <a:xfrm>
            <a:off x="182880" y="749808"/>
            <a:ext cx="2057400" cy="4297680"/>
          </a:xfrm>
          <a:prstGeom prst="roundRect">
            <a:avLst>
              <a:gd name="adj" fmla="val 4444"/>
            </a:avLst>
          </a:prstGeom>
          <a:solidFill>
            <a:srgbClr val="F3F4F6"/>
          </a:solidFill>
          <a:ln/>
        </p:spPr>
        <p:txBody>
          <a:bodyPr/>
          <a:lstStyle/>
          <a:p>
            <a:endParaRPr lang="en-US"/>
          </a:p>
        </p:txBody>
      </p:sp>
      <p:sp>
        <p:nvSpPr>
          <p:cNvPr id="4" name="Text 2"/>
          <p:cNvSpPr/>
          <p:nvPr/>
        </p:nvSpPr>
        <p:spPr>
          <a:xfrm>
            <a:off x="182880" y="804672"/>
            <a:ext cx="2057400" cy="274320"/>
          </a:xfrm>
          <a:prstGeom prst="rect">
            <a:avLst/>
          </a:prstGeom>
          <a:noFill/>
          <a:ln/>
        </p:spPr>
        <p:txBody>
          <a:bodyPr wrap="square" rtlCol="0" anchor="ctr"/>
          <a:lstStyle/>
          <a:p>
            <a:pPr marL="0" indent="0" algn="ctr">
              <a:buNone/>
            </a:pPr>
            <a:r>
              <a:rPr lang="en-US" sz="1000" b="1" dirty="0">
                <a:solidFill>
                  <a:srgbClr val="1F2937"/>
                </a:solidFill>
                <a:latin typeface="Calibri" pitchFamily="34" charset="0"/>
                <a:ea typeface="Calibri" pitchFamily="34" charset="-122"/>
                <a:cs typeface="Calibri" pitchFamily="34" charset="-120"/>
              </a:rPr>
              <a:t>Reviewer</a:t>
            </a:r>
            <a:endParaRPr lang="en-US" sz="1000" dirty="0"/>
          </a:p>
        </p:txBody>
      </p:sp>
      <p:sp>
        <p:nvSpPr>
          <p:cNvPr id="5" name="Shape 3"/>
          <p:cNvSpPr/>
          <p:nvPr/>
        </p:nvSpPr>
        <p:spPr>
          <a:xfrm>
            <a:off x="2331720" y="749808"/>
            <a:ext cx="2057400" cy="4297680"/>
          </a:xfrm>
          <a:prstGeom prst="roundRect">
            <a:avLst>
              <a:gd name="adj" fmla="val 4444"/>
            </a:avLst>
          </a:prstGeom>
          <a:solidFill>
            <a:srgbClr val="E0F4F6"/>
          </a:solidFill>
          <a:ln/>
        </p:spPr>
        <p:txBody>
          <a:bodyPr/>
          <a:lstStyle/>
          <a:p>
            <a:endParaRPr lang="en-US"/>
          </a:p>
        </p:txBody>
      </p:sp>
      <p:sp>
        <p:nvSpPr>
          <p:cNvPr id="6" name="Text 4"/>
          <p:cNvSpPr/>
          <p:nvPr/>
        </p:nvSpPr>
        <p:spPr>
          <a:xfrm>
            <a:off x="2331720" y="804672"/>
            <a:ext cx="2057400" cy="274320"/>
          </a:xfrm>
          <a:prstGeom prst="rect">
            <a:avLst/>
          </a:prstGeom>
          <a:noFill/>
          <a:ln/>
        </p:spPr>
        <p:txBody>
          <a:bodyPr wrap="square" rtlCol="0" anchor="ctr"/>
          <a:lstStyle/>
          <a:p>
            <a:pPr marL="0" indent="0" algn="ctr">
              <a:buNone/>
            </a:pPr>
            <a:r>
              <a:rPr lang="en-US" sz="1000" b="1" dirty="0">
                <a:solidFill>
                  <a:srgbClr val="1F2937"/>
                </a:solidFill>
                <a:latin typeface="Calibri" pitchFamily="34" charset="0"/>
                <a:ea typeface="Calibri" pitchFamily="34" charset="-122"/>
                <a:cs typeface="Calibri" pitchFamily="34" charset="-120"/>
              </a:rPr>
              <a:t>Angular</a:t>
            </a:r>
            <a:endParaRPr lang="en-US" sz="1000" dirty="0"/>
          </a:p>
        </p:txBody>
      </p:sp>
      <p:sp>
        <p:nvSpPr>
          <p:cNvPr id="7" name="Shape 5"/>
          <p:cNvSpPr/>
          <p:nvPr/>
        </p:nvSpPr>
        <p:spPr>
          <a:xfrm>
            <a:off x="4480560" y="749808"/>
            <a:ext cx="1965960" cy="4297680"/>
          </a:xfrm>
          <a:prstGeom prst="roundRect">
            <a:avLst>
              <a:gd name="adj" fmla="val 4444"/>
            </a:avLst>
          </a:prstGeom>
          <a:solidFill>
            <a:srgbClr val="EDE9FE"/>
          </a:solidFill>
          <a:ln/>
        </p:spPr>
        <p:txBody>
          <a:bodyPr/>
          <a:lstStyle/>
          <a:p>
            <a:endParaRPr lang="en-US"/>
          </a:p>
        </p:txBody>
      </p:sp>
      <p:sp>
        <p:nvSpPr>
          <p:cNvPr id="8" name="Text 6"/>
          <p:cNvSpPr/>
          <p:nvPr/>
        </p:nvSpPr>
        <p:spPr>
          <a:xfrm>
            <a:off x="4480560" y="804672"/>
            <a:ext cx="2057400" cy="274320"/>
          </a:xfrm>
          <a:prstGeom prst="rect">
            <a:avLst/>
          </a:prstGeom>
          <a:noFill/>
          <a:ln/>
        </p:spPr>
        <p:txBody>
          <a:bodyPr wrap="square" rtlCol="0" anchor="ctr"/>
          <a:lstStyle/>
          <a:p>
            <a:pPr marL="0" indent="0" algn="ctr">
              <a:buNone/>
            </a:pPr>
            <a:r>
              <a:rPr lang="en-US" sz="1000" b="1" dirty="0">
                <a:solidFill>
                  <a:srgbClr val="1F2937"/>
                </a:solidFill>
                <a:latin typeface="Calibri" pitchFamily="34" charset="0"/>
                <a:ea typeface="Calibri" pitchFamily="34" charset="-122"/>
                <a:cs typeface="Calibri" pitchFamily="34" charset="-120"/>
              </a:rPr>
              <a:t>NestJS</a:t>
            </a:r>
            <a:endParaRPr lang="en-US" sz="1000" dirty="0"/>
          </a:p>
        </p:txBody>
      </p:sp>
      <p:sp>
        <p:nvSpPr>
          <p:cNvPr id="9" name="Shape 7"/>
          <p:cNvSpPr/>
          <p:nvPr/>
        </p:nvSpPr>
        <p:spPr>
          <a:xfrm>
            <a:off x="6720840" y="749808"/>
            <a:ext cx="1965960" cy="4297680"/>
          </a:xfrm>
          <a:prstGeom prst="roundRect">
            <a:avLst>
              <a:gd name="adj" fmla="val 4444"/>
            </a:avLst>
          </a:prstGeom>
          <a:solidFill>
            <a:srgbClr val="FEF3C7"/>
          </a:solidFill>
          <a:ln/>
        </p:spPr>
        <p:txBody>
          <a:bodyPr/>
          <a:lstStyle/>
          <a:p>
            <a:endParaRPr lang="en-US" dirty="0"/>
          </a:p>
        </p:txBody>
      </p:sp>
      <p:sp>
        <p:nvSpPr>
          <p:cNvPr id="10" name="Text 8"/>
          <p:cNvSpPr/>
          <p:nvPr/>
        </p:nvSpPr>
        <p:spPr>
          <a:xfrm>
            <a:off x="6629400" y="804672"/>
            <a:ext cx="2057400" cy="274320"/>
          </a:xfrm>
          <a:prstGeom prst="rect">
            <a:avLst/>
          </a:prstGeom>
          <a:noFill/>
          <a:ln/>
        </p:spPr>
        <p:txBody>
          <a:bodyPr wrap="square" rtlCol="0" anchor="ctr"/>
          <a:lstStyle/>
          <a:p>
            <a:pPr marL="0" indent="0" algn="ctr">
              <a:buNone/>
            </a:pPr>
            <a:r>
              <a:rPr lang="en-US" sz="1000" b="1" dirty="0">
                <a:solidFill>
                  <a:srgbClr val="1F2937"/>
                </a:solidFill>
                <a:latin typeface="Calibri" pitchFamily="34" charset="0"/>
                <a:ea typeface="Calibri" pitchFamily="34" charset="-122"/>
                <a:cs typeface="Calibri" pitchFamily="34" charset="-120"/>
              </a:rPr>
              <a:t>Claude API</a:t>
            </a:r>
            <a:endParaRPr lang="en-US" sz="1000" dirty="0"/>
          </a:p>
        </p:txBody>
      </p:sp>
      <p:sp>
        <p:nvSpPr>
          <p:cNvPr id="11" name="Shape 9"/>
          <p:cNvSpPr/>
          <p:nvPr/>
        </p:nvSpPr>
        <p:spPr>
          <a:xfrm>
            <a:off x="292608" y="1115568"/>
            <a:ext cx="1837944" cy="475488"/>
          </a:xfrm>
          <a:prstGeom prst="roundRect">
            <a:avLst>
              <a:gd name="adj" fmla="val 15385"/>
            </a:avLst>
          </a:prstGeom>
          <a:solidFill>
            <a:srgbClr val="374151"/>
          </a:solidFill>
          <a:ln/>
          <a:effectLst>
            <a:outerShdw blurRad="63500" dist="25400" dir="2700000" algn="bl" rotWithShape="0">
              <a:srgbClr val="000000">
                <a:alpha val="10000"/>
              </a:srgbClr>
            </a:outerShdw>
          </a:effectLst>
        </p:spPr>
        <p:txBody>
          <a:bodyPr/>
          <a:lstStyle/>
          <a:p>
            <a:endParaRPr lang="en-US"/>
          </a:p>
        </p:txBody>
      </p:sp>
      <p:sp>
        <p:nvSpPr>
          <p:cNvPr id="12" name="Text 10"/>
          <p:cNvSpPr/>
          <p:nvPr/>
        </p:nvSpPr>
        <p:spPr>
          <a:xfrm>
            <a:off x="292608" y="1115568"/>
            <a:ext cx="1837944"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Paste text</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or upload PDF</a:t>
            </a:r>
            <a:endParaRPr lang="en-US" sz="900" dirty="0"/>
          </a:p>
        </p:txBody>
      </p:sp>
      <p:sp>
        <p:nvSpPr>
          <p:cNvPr id="13" name="Shape 11"/>
          <p:cNvSpPr/>
          <p:nvPr/>
        </p:nvSpPr>
        <p:spPr>
          <a:xfrm>
            <a:off x="2441448" y="1115568"/>
            <a:ext cx="1837944" cy="475488"/>
          </a:xfrm>
          <a:prstGeom prst="roundRect">
            <a:avLst>
              <a:gd name="adj" fmla="val 15385"/>
            </a:avLst>
          </a:prstGeom>
          <a:solidFill>
            <a:srgbClr val="028090"/>
          </a:solidFill>
          <a:ln/>
          <a:effectLst>
            <a:outerShdw blurRad="63500" dist="25400" dir="2700000" algn="bl" rotWithShape="0">
              <a:srgbClr val="000000">
                <a:alpha val="10000"/>
              </a:srgbClr>
            </a:outerShdw>
          </a:effectLst>
        </p:spPr>
        <p:txBody>
          <a:bodyPr/>
          <a:lstStyle/>
          <a:p>
            <a:endParaRPr lang="en-US"/>
          </a:p>
        </p:txBody>
      </p:sp>
      <p:sp>
        <p:nvSpPr>
          <p:cNvPr id="14" name="Text 12"/>
          <p:cNvSpPr/>
          <p:nvPr/>
        </p:nvSpPr>
        <p:spPr>
          <a:xfrm>
            <a:off x="2441448" y="1115568"/>
            <a:ext cx="1837944"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POST /api/analyse</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multipart/form-data</a:t>
            </a:r>
            <a:endParaRPr lang="en-US" sz="900" dirty="0"/>
          </a:p>
        </p:txBody>
      </p:sp>
      <p:sp>
        <p:nvSpPr>
          <p:cNvPr id="15" name="Shape 13"/>
          <p:cNvSpPr/>
          <p:nvPr/>
        </p:nvSpPr>
        <p:spPr>
          <a:xfrm>
            <a:off x="2103120" y="1353312"/>
            <a:ext cx="228600" cy="0"/>
          </a:xfrm>
          <a:prstGeom prst="line">
            <a:avLst/>
          </a:prstGeom>
          <a:noFill/>
          <a:ln w="19050">
            <a:solidFill>
              <a:srgbClr val="028090"/>
            </a:solidFill>
            <a:prstDash val="solid"/>
            <a:tailEnd type="arrow"/>
          </a:ln>
        </p:spPr>
        <p:txBody>
          <a:bodyPr/>
          <a:lstStyle/>
          <a:p>
            <a:endParaRPr lang="en-US"/>
          </a:p>
        </p:txBody>
      </p:sp>
      <p:sp>
        <p:nvSpPr>
          <p:cNvPr id="16" name="Shape 14"/>
          <p:cNvSpPr/>
          <p:nvPr/>
        </p:nvSpPr>
        <p:spPr>
          <a:xfrm>
            <a:off x="4590288" y="1115568"/>
            <a:ext cx="1837944" cy="475488"/>
          </a:xfrm>
          <a:prstGeom prst="roundRect">
            <a:avLst>
              <a:gd name="adj" fmla="val 15385"/>
            </a:avLst>
          </a:prstGeom>
          <a:solidFill>
            <a:srgbClr val="5B21B6"/>
          </a:solidFill>
          <a:ln/>
          <a:effectLst>
            <a:outerShdw blurRad="63500" dist="25400" dir="2700000" algn="bl" rotWithShape="0">
              <a:srgbClr val="000000">
                <a:alpha val="10000"/>
              </a:srgbClr>
            </a:outerShdw>
          </a:effectLst>
        </p:spPr>
        <p:txBody>
          <a:bodyPr/>
          <a:lstStyle/>
          <a:p>
            <a:endParaRPr lang="en-US"/>
          </a:p>
        </p:txBody>
      </p:sp>
      <p:sp>
        <p:nvSpPr>
          <p:cNvPr id="17" name="Text 15"/>
          <p:cNvSpPr/>
          <p:nvPr/>
        </p:nvSpPr>
        <p:spPr>
          <a:xfrm>
            <a:off x="4590288" y="1115568"/>
            <a:ext cx="1837944"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pdf-parse</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 validate JSON</a:t>
            </a:r>
            <a:endParaRPr lang="en-US" sz="900" dirty="0"/>
          </a:p>
        </p:txBody>
      </p:sp>
      <p:sp>
        <p:nvSpPr>
          <p:cNvPr id="18" name="Shape 16"/>
          <p:cNvSpPr/>
          <p:nvPr/>
        </p:nvSpPr>
        <p:spPr>
          <a:xfrm>
            <a:off x="4251960" y="1353312"/>
            <a:ext cx="228600" cy="0"/>
          </a:xfrm>
          <a:prstGeom prst="line">
            <a:avLst/>
          </a:prstGeom>
          <a:noFill/>
          <a:ln w="19050">
            <a:solidFill>
              <a:srgbClr val="5B21B6"/>
            </a:solidFill>
            <a:prstDash val="solid"/>
            <a:tailEnd type="arrow"/>
          </a:ln>
        </p:spPr>
        <p:txBody>
          <a:bodyPr/>
          <a:lstStyle/>
          <a:p>
            <a:endParaRPr lang="en-US"/>
          </a:p>
        </p:txBody>
      </p:sp>
      <p:sp>
        <p:nvSpPr>
          <p:cNvPr id="19" name="Shape 17"/>
          <p:cNvSpPr/>
          <p:nvPr/>
        </p:nvSpPr>
        <p:spPr>
          <a:xfrm>
            <a:off x="4590288" y="1719072"/>
            <a:ext cx="1837944" cy="475488"/>
          </a:xfrm>
          <a:prstGeom prst="roundRect">
            <a:avLst>
              <a:gd name="adj" fmla="val 15385"/>
            </a:avLst>
          </a:prstGeom>
          <a:solidFill>
            <a:srgbClr val="5B21B6"/>
          </a:solidFill>
          <a:ln/>
          <a:effectLst>
            <a:outerShdw blurRad="63500" dist="25400" dir="2700000" algn="bl" rotWithShape="0">
              <a:srgbClr val="000000">
                <a:alpha val="10000"/>
              </a:srgbClr>
            </a:outerShdw>
          </a:effectLst>
        </p:spPr>
        <p:txBody>
          <a:bodyPr/>
          <a:lstStyle/>
          <a:p>
            <a:endParaRPr lang="en-US"/>
          </a:p>
        </p:txBody>
      </p:sp>
      <p:sp>
        <p:nvSpPr>
          <p:cNvPr id="20" name="Text 18"/>
          <p:cNvSpPr/>
          <p:nvPr/>
        </p:nvSpPr>
        <p:spPr>
          <a:xfrm>
            <a:off x="4590288" y="1719072"/>
            <a:ext cx="1837944"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Build Claude prompt</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 inject context</a:t>
            </a:r>
            <a:endParaRPr lang="en-US" sz="900" dirty="0"/>
          </a:p>
        </p:txBody>
      </p:sp>
      <p:sp>
        <p:nvSpPr>
          <p:cNvPr id="21" name="Shape 19"/>
          <p:cNvSpPr/>
          <p:nvPr/>
        </p:nvSpPr>
        <p:spPr>
          <a:xfrm>
            <a:off x="5486400" y="1591056"/>
            <a:ext cx="0" cy="128016"/>
          </a:xfrm>
          <a:prstGeom prst="line">
            <a:avLst/>
          </a:prstGeom>
          <a:noFill/>
          <a:ln w="19050">
            <a:solidFill>
              <a:srgbClr val="5B21B6"/>
            </a:solidFill>
            <a:prstDash val="solid"/>
            <a:tailEnd type="arrow"/>
          </a:ln>
        </p:spPr>
        <p:txBody>
          <a:bodyPr/>
          <a:lstStyle/>
          <a:p>
            <a:endParaRPr lang="en-US"/>
          </a:p>
        </p:txBody>
      </p:sp>
      <p:sp>
        <p:nvSpPr>
          <p:cNvPr id="22" name="Shape 20"/>
          <p:cNvSpPr/>
          <p:nvPr/>
        </p:nvSpPr>
        <p:spPr>
          <a:xfrm>
            <a:off x="6739128" y="1719072"/>
            <a:ext cx="1837944" cy="475488"/>
          </a:xfrm>
          <a:prstGeom prst="roundRect">
            <a:avLst>
              <a:gd name="adj" fmla="val 15385"/>
            </a:avLst>
          </a:prstGeom>
          <a:solidFill>
            <a:srgbClr val="D97706"/>
          </a:solidFill>
          <a:ln/>
          <a:effectLst>
            <a:outerShdw blurRad="63500" dist="25400" dir="2700000" algn="bl" rotWithShape="0">
              <a:srgbClr val="000000">
                <a:alpha val="10000"/>
              </a:srgbClr>
            </a:outerShdw>
          </a:effectLst>
        </p:spPr>
        <p:txBody>
          <a:bodyPr/>
          <a:lstStyle/>
          <a:p>
            <a:endParaRPr lang="en-US"/>
          </a:p>
        </p:txBody>
      </p:sp>
      <p:sp>
        <p:nvSpPr>
          <p:cNvPr id="23" name="Text 21"/>
          <p:cNvSpPr/>
          <p:nvPr/>
        </p:nvSpPr>
        <p:spPr>
          <a:xfrm>
            <a:off x="6739128" y="1719072"/>
            <a:ext cx="1837944"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Requirements</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Summary JSON</a:t>
            </a:r>
            <a:endParaRPr lang="en-US" sz="900" dirty="0"/>
          </a:p>
        </p:txBody>
      </p:sp>
      <p:sp>
        <p:nvSpPr>
          <p:cNvPr id="24" name="Shape 22"/>
          <p:cNvSpPr/>
          <p:nvPr/>
        </p:nvSpPr>
        <p:spPr>
          <a:xfrm>
            <a:off x="4480560" y="1956816"/>
            <a:ext cx="2148840" cy="0"/>
          </a:xfrm>
          <a:prstGeom prst="line">
            <a:avLst/>
          </a:prstGeom>
          <a:noFill/>
          <a:ln w="19050">
            <a:solidFill>
              <a:srgbClr val="D97706"/>
            </a:solidFill>
            <a:prstDash val="solid"/>
            <a:tailEnd type="arrow"/>
          </a:ln>
        </p:spPr>
        <p:txBody>
          <a:bodyPr/>
          <a:lstStyle/>
          <a:p>
            <a:endParaRPr lang="en-US"/>
          </a:p>
        </p:txBody>
      </p:sp>
      <p:sp>
        <p:nvSpPr>
          <p:cNvPr id="25" name="Shape 23"/>
          <p:cNvSpPr/>
          <p:nvPr/>
        </p:nvSpPr>
        <p:spPr>
          <a:xfrm>
            <a:off x="6739128" y="2340864"/>
            <a:ext cx="1837944" cy="475488"/>
          </a:xfrm>
          <a:prstGeom prst="roundRect">
            <a:avLst>
              <a:gd name="adj" fmla="val 15385"/>
            </a:avLst>
          </a:prstGeom>
          <a:solidFill>
            <a:srgbClr val="D97706"/>
          </a:solidFill>
          <a:ln/>
          <a:effectLst>
            <a:outerShdw blurRad="63500" dist="25400" dir="2700000" algn="bl" rotWithShape="0">
              <a:srgbClr val="000000">
                <a:alpha val="10000"/>
              </a:srgbClr>
            </a:outerShdw>
          </a:effectLst>
        </p:spPr>
        <p:txBody>
          <a:bodyPr/>
          <a:lstStyle/>
          <a:p>
            <a:endParaRPr lang="en-US"/>
          </a:p>
        </p:txBody>
      </p:sp>
      <p:sp>
        <p:nvSpPr>
          <p:cNvPr id="26" name="Text 24"/>
          <p:cNvSpPr/>
          <p:nvPr/>
        </p:nvSpPr>
        <p:spPr>
          <a:xfrm>
            <a:off x="6739128" y="2340864"/>
            <a:ext cx="1837944"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Story generation</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streamed JSON</a:t>
            </a:r>
            <a:endParaRPr lang="en-US" sz="900" dirty="0"/>
          </a:p>
        </p:txBody>
      </p:sp>
      <p:sp>
        <p:nvSpPr>
          <p:cNvPr id="28" name="Shape 26"/>
          <p:cNvSpPr/>
          <p:nvPr/>
        </p:nvSpPr>
        <p:spPr>
          <a:xfrm>
            <a:off x="2441448" y="2340864"/>
            <a:ext cx="1837944" cy="475488"/>
          </a:xfrm>
          <a:prstGeom prst="roundRect">
            <a:avLst>
              <a:gd name="adj" fmla="val 15385"/>
            </a:avLst>
          </a:prstGeom>
          <a:solidFill>
            <a:srgbClr val="028090"/>
          </a:solidFill>
          <a:ln/>
          <a:effectLst>
            <a:outerShdw blurRad="63500" dist="25400" dir="2700000" algn="bl" rotWithShape="0">
              <a:srgbClr val="000000">
                <a:alpha val="10000"/>
              </a:srgbClr>
            </a:outerShdw>
          </a:effectLst>
        </p:spPr>
        <p:txBody>
          <a:bodyPr/>
          <a:lstStyle/>
          <a:p>
            <a:endParaRPr lang="en-US"/>
          </a:p>
        </p:txBody>
      </p:sp>
      <p:sp>
        <p:nvSpPr>
          <p:cNvPr id="29" name="Text 27"/>
          <p:cNvSpPr/>
          <p:nvPr/>
        </p:nvSpPr>
        <p:spPr>
          <a:xfrm>
            <a:off x="2441448" y="2340864"/>
            <a:ext cx="1837944"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SSE: story cards</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appear one-by-one</a:t>
            </a:r>
            <a:endParaRPr lang="en-US" sz="900" dirty="0"/>
          </a:p>
        </p:txBody>
      </p:sp>
      <p:sp>
        <p:nvSpPr>
          <p:cNvPr id="30" name="Text 28"/>
          <p:cNvSpPr/>
          <p:nvPr/>
        </p:nvSpPr>
        <p:spPr>
          <a:xfrm>
            <a:off x="2660904" y="2040191"/>
            <a:ext cx="1645920" cy="182880"/>
          </a:xfrm>
          <a:prstGeom prst="rect">
            <a:avLst/>
          </a:prstGeom>
          <a:noFill/>
          <a:ln/>
        </p:spPr>
        <p:txBody>
          <a:bodyPr wrap="square" rtlCol="0" anchor="ctr"/>
          <a:lstStyle/>
          <a:p>
            <a:pPr marL="0" indent="0" algn="ctr">
              <a:buNone/>
            </a:pPr>
            <a:r>
              <a:rPr lang="en-US" sz="800" dirty="0">
                <a:solidFill>
                  <a:srgbClr val="028090"/>
                </a:solidFill>
                <a:latin typeface="Calibri" pitchFamily="34" charset="0"/>
                <a:ea typeface="Calibri" pitchFamily="34" charset="-122"/>
                <a:cs typeface="Calibri" pitchFamily="34" charset="-120"/>
              </a:rPr>
              <a:t>SSE stream</a:t>
            </a:r>
            <a:endParaRPr lang="en-US" sz="800" dirty="0"/>
          </a:p>
        </p:txBody>
      </p:sp>
      <p:sp>
        <p:nvSpPr>
          <p:cNvPr id="32" name="Shape 30"/>
          <p:cNvSpPr/>
          <p:nvPr/>
        </p:nvSpPr>
        <p:spPr>
          <a:xfrm>
            <a:off x="292608" y="2944368"/>
            <a:ext cx="1837944" cy="475488"/>
          </a:xfrm>
          <a:prstGeom prst="roundRect">
            <a:avLst>
              <a:gd name="adj" fmla="val 15385"/>
            </a:avLst>
          </a:prstGeom>
          <a:solidFill>
            <a:srgbClr val="374151"/>
          </a:solidFill>
          <a:ln/>
          <a:effectLst>
            <a:outerShdw blurRad="63500" dist="25400" dir="2700000" algn="bl" rotWithShape="0">
              <a:srgbClr val="000000">
                <a:alpha val="10000"/>
              </a:srgbClr>
            </a:outerShdw>
          </a:effectLst>
        </p:spPr>
        <p:txBody>
          <a:bodyPr/>
          <a:lstStyle/>
          <a:p>
            <a:endParaRPr lang="en-US"/>
          </a:p>
        </p:txBody>
      </p:sp>
      <p:sp>
        <p:nvSpPr>
          <p:cNvPr id="33" name="Text 31"/>
          <p:cNvSpPr/>
          <p:nvPr/>
        </p:nvSpPr>
        <p:spPr>
          <a:xfrm>
            <a:off x="292608" y="2944368"/>
            <a:ext cx="1837944"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Approve /</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Amend stories</a:t>
            </a:r>
            <a:endParaRPr lang="en-US" sz="900" dirty="0"/>
          </a:p>
        </p:txBody>
      </p:sp>
      <p:sp>
        <p:nvSpPr>
          <p:cNvPr id="34" name="Shape 32"/>
          <p:cNvSpPr/>
          <p:nvPr/>
        </p:nvSpPr>
        <p:spPr>
          <a:xfrm>
            <a:off x="182880" y="3182112"/>
            <a:ext cx="2148840" cy="0"/>
          </a:xfrm>
          <a:prstGeom prst="line">
            <a:avLst/>
          </a:prstGeom>
          <a:noFill/>
          <a:ln w="19050">
            <a:solidFill>
              <a:srgbClr val="374151"/>
            </a:solidFill>
            <a:prstDash val="solid"/>
            <a:tailEnd type="arrow"/>
          </a:ln>
        </p:spPr>
        <p:txBody>
          <a:bodyPr/>
          <a:lstStyle/>
          <a:p>
            <a:endParaRPr lang="en-US"/>
          </a:p>
        </p:txBody>
      </p:sp>
      <p:sp>
        <p:nvSpPr>
          <p:cNvPr id="35" name="Shape 33"/>
          <p:cNvSpPr/>
          <p:nvPr/>
        </p:nvSpPr>
        <p:spPr>
          <a:xfrm>
            <a:off x="2441448" y="2944368"/>
            <a:ext cx="1837944" cy="475488"/>
          </a:xfrm>
          <a:prstGeom prst="roundRect">
            <a:avLst>
              <a:gd name="adj" fmla="val 15385"/>
            </a:avLst>
          </a:prstGeom>
          <a:solidFill>
            <a:srgbClr val="028090"/>
          </a:solidFill>
          <a:ln/>
          <a:effectLst>
            <a:outerShdw blurRad="63500" dist="25400" dir="2700000" algn="bl" rotWithShape="0">
              <a:srgbClr val="000000">
                <a:alpha val="10000"/>
              </a:srgbClr>
            </a:outerShdw>
          </a:effectLst>
        </p:spPr>
        <p:txBody>
          <a:bodyPr/>
          <a:lstStyle/>
          <a:p>
            <a:endParaRPr lang="en-US"/>
          </a:p>
        </p:txBody>
      </p:sp>
      <p:sp>
        <p:nvSpPr>
          <p:cNvPr id="36" name="Text 34"/>
          <p:cNvSpPr/>
          <p:nvPr/>
        </p:nvSpPr>
        <p:spPr>
          <a:xfrm>
            <a:off x="2441448" y="2944368"/>
            <a:ext cx="1837944"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SessionService</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stores approvals</a:t>
            </a:r>
            <a:endParaRPr lang="en-US" sz="900" dirty="0"/>
          </a:p>
        </p:txBody>
      </p:sp>
      <p:sp>
        <p:nvSpPr>
          <p:cNvPr id="37" name="Shape 35"/>
          <p:cNvSpPr/>
          <p:nvPr/>
        </p:nvSpPr>
        <p:spPr>
          <a:xfrm>
            <a:off x="2441448" y="3547872"/>
            <a:ext cx="1837944" cy="475488"/>
          </a:xfrm>
          <a:prstGeom prst="roundRect">
            <a:avLst>
              <a:gd name="adj" fmla="val 15385"/>
            </a:avLst>
          </a:prstGeom>
          <a:solidFill>
            <a:srgbClr val="028090"/>
          </a:solidFill>
          <a:ln/>
          <a:effectLst>
            <a:outerShdw blurRad="63500" dist="25400" dir="2700000" algn="bl" rotWithShape="0">
              <a:srgbClr val="000000">
                <a:alpha val="10000"/>
              </a:srgbClr>
            </a:outerShdw>
          </a:effectLst>
        </p:spPr>
        <p:txBody>
          <a:bodyPr/>
          <a:lstStyle/>
          <a:p>
            <a:endParaRPr lang="en-US"/>
          </a:p>
        </p:txBody>
      </p:sp>
      <p:sp>
        <p:nvSpPr>
          <p:cNvPr id="38" name="Text 36"/>
          <p:cNvSpPr/>
          <p:nvPr/>
        </p:nvSpPr>
        <p:spPr>
          <a:xfrm>
            <a:off x="2441448" y="3547872"/>
            <a:ext cx="1837944"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POST /api/analyse</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/tasks (on-demand)</a:t>
            </a:r>
            <a:endParaRPr lang="en-US" sz="900" dirty="0"/>
          </a:p>
        </p:txBody>
      </p:sp>
      <p:sp>
        <p:nvSpPr>
          <p:cNvPr id="39" name="Shape 37"/>
          <p:cNvSpPr/>
          <p:nvPr/>
        </p:nvSpPr>
        <p:spPr>
          <a:xfrm>
            <a:off x="4251960" y="3785616"/>
            <a:ext cx="228600" cy="0"/>
          </a:xfrm>
          <a:prstGeom prst="line">
            <a:avLst/>
          </a:prstGeom>
          <a:noFill/>
          <a:ln w="19050">
            <a:solidFill>
              <a:srgbClr val="028090"/>
            </a:solidFill>
            <a:prstDash val="solid"/>
            <a:tailEnd type="arrow"/>
          </a:ln>
        </p:spPr>
        <p:txBody>
          <a:bodyPr/>
          <a:lstStyle/>
          <a:p>
            <a:endParaRPr lang="en-US"/>
          </a:p>
        </p:txBody>
      </p:sp>
      <p:sp>
        <p:nvSpPr>
          <p:cNvPr id="40" name="Shape 38"/>
          <p:cNvSpPr/>
          <p:nvPr/>
        </p:nvSpPr>
        <p:spPr>
          <a:xfrm>
            <a:off x="4590288" y="3547872"/>
            <a:ext cx="1837944" cy="475488"/>
          </a:xfrm>
          <a:prstGeom prst="roundRect">
            <a:avLst>
              <a:gd name="adj" fmla="val 15385"/>
            </a:avLst>
          </a:prstGeom>
          <a:solidFill>
            <a:srgbClr val="5B21B6"/>
          </a:solidFill>
          <a:ln/>
          <a:effectLst>
            <a:outerShdw blurRad="63500" dist="25400" dir="2700000" algn="bl" rotWithShape="0">
              <a:srgbClr val="000000">
                <a:alpha val="10000"/>
              </a:srgbClr>
            </a:outerShdw>
          </a:effectLst>
        </p:spPr>
        <p:txBody>
          <a:bodyPr/>
          <a:lstStyle/>
          <a:p>
            <a:endParaRPr lang="en-US"/>
          </a:p>
        </p:txBody>
      </p:sp>
      <p:sp>
        <p:nvSpPr>
          <p:cNvPr id="41" name="Text 39"/>
          <p:cNvSpPr/>
          <p:nvPr/>
        </p:nvSpPr>
        <p:spPr>
          <a:xfrm>
            <a:off x="4590288" y="3547872"/>
            <a:ext cx="1837944"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AiModule</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Task breakdown</a:t>
            </a:r>
            <a:endParaRPr lang="en-US" sz="900" dirty="0"/>
          </a:p>
        </p:txBody>
      </p:sp>
      <p:sp>
        <p:nvSpPr>
          <p:cNvPr id="43" name="Shape 41"/>
          <p:cNvSpPr/>
          <p:nvPr/>
        </p:nvSpPr>
        <p:spPr>
          <a:xfrm>
            <a:off x="6739128" y="3547872"/>
            <a:ext cx="1837944" cy="475488"/>
          </a:xfrm>
          <a:prstGeom prst="roundRect">
            <a:avLst>
              <a:gd name="adj" fmla="val 15385"/>
            </a:avLst>
          </a:prstGeom>
          <a:solidFill>
            <a:srgbClr val="D97706"/>
          </a:solidFill>
          <a:ln/>
          <a:effectLst>
            <a:outerShdw blurRad="63500" dist="25400" dir="2700000" algn="bl" rotWithShape="0">
              <a:srgbClr val="000000">
                <a:alpha val="10000"/>
              </a:srgbClr>
            </a:outerShdw>
          </a:effectLst>
        </p:spPr>
        <p:txBody>
          <a:bodyPr/>
          <a:lstStyle/>
          <a:p>
            <a:endParaRPr lang="en-US"/>
          </a:p>
        </p:txBody>
      </p:sp>
      <p:sp>
        <p:nvSpPr>
          <p:cNvPr id="44" name="Text 42"/>
          <p:cNvSpPr/>
          <p:nvPr/>
        </p:nvSpPr>
        <p:spPr>
          <a:xfrm>
            <a:off x="6739128" y="3547872"/>
            <a:ext cx="1837944"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Task[] JSON</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returned</a:t>
            </a:r>
            <a:endParaRPr lang="en-US" sz="900" dirty="0"/>
          </a:p>
        </p:txBody>
      </p:sp>
      <p:sp>
        <p:nvSpPr>
          <p:cNvPr id="45" name="Shape 43"/>
          <p:cNvSpPr/>
          <p:nvPr/>
        </p:nvSpPr>
        <p:spPr>
          <a:xfrm>
            <a:off x="292608" y="4169664"/>
            <a:ext cx="1837944" cy="475488"/>
          </a:xfrm>
          <a:prstGeom prst="roundRect">
            <a:avLst>
              <a:gd name="adj" fmla="val 15385"/>
            </a:avLst>
          </a:prstGeom>
          <a:solidFill>
            <a:srgbClr val="374151"/>
          </a:solidFill>
          <a:ln/>
          <a:effectLst>
            <a:outerShdw blurRad="63500" dist="25400" dir="2700000" algn="bl" rotWithShape="0">
              <a:srgbClr val="000000">
                <a:alpha val="10000"/>
              </a:srgbClr>
            </a:outerShdw>
          </a:effectLst>
        </p:spPr>
        <p:txBody>
          <a:bodyPr/>
          <a:lstStyle/>
          <a:p>
            <a:endParaRPr lang="en-US"/>
          </a:p>
        </p:txBody>
      </p:sp>
      <p:sp>
        <p:nvSpPr>
          <p:cNvPr id="46" name="Text 44"/>
          <p:cNvSpPr/>
          <p:nvPr/>
        </p:nvSpPr>
        <p:spPr>
          <a:xfrm>
            <a:off x="292608" y="4169664"/>
            <a:ext cx="1837944"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JSON file</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downloaded</a:t>
            </a:r>
            <a:endParaRPr lang="en-US" sz="900" dirty="0"/>
          </a:p>
        </p:txBody>
      </p:sp>
      <p:sp>
        <p:nvSpPr>
          <p:cNvPr id="47" name="Shape 45"/>
          <p:cNvSpPr/>
          <p:nvPr/>
        </p:nvSpPr>
        <p:spPr>
          <a:xfrm>
            <a:off x="2441448" y="4169664"/>
            <a:ext cx="1837944" cy="475488"/>
          </a:xfrm>
          <a:prstGeom prst="roundRect">
            <a:avLst>
              <a:gd name="adj" fmla="val 15385"/>
            </a:avLst>
          </a:prstGeom>
          <a:solidFill>
            <a:srgbClr val="028090"/>
          </a:solidFill>
          <a:ln/>
          <a:effectLst>
            <a:outerShdw blurRad="63500" dist="25400" dir="2700000" algn="bl" rotWithShape="0">
              <a:srgbClr val="000000">
                <a:alpha val="10000"/>
              </a:srgbClr>
            </a:outerShdw>
          </a:effectLst>
        </p:spPr>
        <p:txBody>
          <a:bodyPr/>
          <a:lstStyle/>
          <a:p>
            <a:endParaRPr lang="en-US"/>
          </a:p>
        </p:txBody>
      </p:sp>
      <p:sp>
        <p:nvSpPr>
          <p:cNvPr id="48" name="Text 46"/>
          <p:cNvSpPr/>
          <p:nvPr/>
        </p:nvSpPr>
        <p:spPr>
          <a:xfrm>
            <a:off x="2441448" y="4169664"/>
            <a:ext cx="1837944"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Blob export</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(browser-native)</a:t>
            </a:r>
            <a:endParaRPr lang="en-US" sz="900" dirty="0"/>
          </a:p>
        </p:txBody>
      </p:sp>
      <p:sp>
        <p:nvSpPr>
          <p:cNvPr id="49" name="Shape 47"/>
          <p:cNvSpPr/>
          <p:nvPr/>
        </p:nvSpPr>
        <p:spPr>
          <a:xfrm>
            <a:off x="2194560" y="4407408"/>
            <a:ext cx="0" cy="0"/>
          </a:xfrm>
          <a:prstGeom prst="line">
            <a:avLst/>
          </a:prstGeom>
          <a:noFill/>
          <a:ln w="19050">
            <a:solidFill>
              <a:srgbClr val="374151"/>
            </a:solidFill>
            <a:prstDash val="solid"/>
            <a:tailEnd type="arrow"/>
          </a:ln>
        </p:spPr>
        <p:txBody>
          <a:bodyPr/>
          <a:lstStyle/>
          <a:p>
            <a:endParaRPr lang="en-US"/>
          </a:p>
        </p:txBody>
      </p:sp>
      <p:sp>
        <p:nvSpPr>
          <p:cNvPr id="50" name="Shape 22">
            <a:extLst>
              <a:ext uri="{FF2B5EF4-FFF2-40B4-BE49-F238E27FC236}">
                <a16:creationId xmlns:a16="http://schemas.microsoft.com/office/drawing/2014/main" id="{358CB430-0886-8F16-888F-8EB1E0116548}"/>
              </a:ext>
            </a:extLst>
          </p:cNvPr>
          <p:cNvSpPr/>
          <p:nvPr/>
        </p:nvSpPr>
        <p:spPr>
          <a:xfrm flipH="1">
            <a:off x="4344670" y="2651759"/>
            <a:ext cx="2394458" cy="2"/>
          </a:xfrm>
          <a:prstGeom prst="line">
            <a:avLst/>
          </a:prstGeom>
          <a:noFill/>
          <a:ln w="19050">
            <a:solidFill>
              <a:srgbClr val="D97706"/>
            </a:solidFill>
            <a:prstDash val="solid"/>
            <a:tailEnd type="arrow"/>
          </a:ln>
        </p:spPr>
        <p:txBody>
          <a:bodyPr/>
          <a:lstStyle/>
          <a:p>
            <a:endParaRPr lang="en-US"/>
          </a:p>
        </p:txBody>
      </p:sp>
      <p:sp>
        <p:nvSpPr>
          <p:cNvPr id="51" name="Shape 22">
            <a:extLst>
              <a:ext uri="{FF2B5EF4-FFF2-40B4-BE49-F238E27FC236}">
                <a16:creationId xmlns:a16="http://schemas.microsoft.com/office/drawing/2014/main" id="{97227524-83B6-537C-3708-72B601F247E0}"/>
              </a:ext>
            </a:extLst>
          </p:cNvPr>
          <p:cNvSpPr/>
          <p:nvPr/>
        </p:nvSpPr>
        <p:spPr>
          <a:xfrm flipH="1">
            <a:off x="4462272" y="3785616"/>
            <a:ext cx="2394458" cy="2"/>
          </a:xfrm>
          <a:prstGeom prst="line">
            <a:avLst/>
          </a:prstGeom>
          <a:noFill/>
          <a:ln w="19050">
            <a:solidFill>
              <a:srgbClr val="D97706"/>
            </a:solidFill>
            <a:prstDash val="solid"/>
            <a:tailEnd type="arrow"/>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457200"/>
          </a:xfrm>
          <a:prstGeom prst="rect">
            <a:avLst/>
          </a:prstGeom>
          <a:noFill/>
          <a:ln/>
        </p:spPr>
        <p:txBody>
          <a:bodyPr wrap="square" rtlCol="0" anchor="ctr"/>
          <a:lstStyle/>
          <a:p>
            <a:pPr marL="0" indent="0">
              <a:buNone/>
            </a:pPr>
            <a:r>
              <a:rPr lang="en-US" sz="2600" b="1" dirty="0">
                <a:solidFill>
                  <a:srgbClr val="1E2761"/>
                </a:solidFill>
                <a:latin typeface="Calibri" pitchFamily="34" charset="0"/>
                <a:ea typeface="Calibri" pitchFamily="34" charset="-122"/>
                <a:cs typeface="Calibri" pitchFamily="34" charset="-120"/>
              </a:rPr>
              <a:t>Data Flow — GitHub Projects v2 (MVP2)</a:t>
            </a:r>
            <a:endParaRPr lang="en-US" sz="2600" dirty="0"/>
          </a:p>
        </p:txBody>
      </p:sp>
      <p:sp>
        <p:nvSpPr>
          <p:cNvPr id="3" name="Shape 1"/>
          <p:cNvSpPr/>
          <p:nvPr/>
        </p:nvSpPr>
        <p:spPr>
          <a:xfrm>
            <a:off x="182880" y="749808"/>
            <a:ext cx="1737360" cy="4297680"/>
          </a:xfrm>
          <a:prstGeom prst="roundRect">
            <a:avLst>
              <a:gd name="adj" fmla="val 5263"/>
            </a:avLst>
          </a:prstGeom>
          <a:solidFill>
            <a:srgbClr val="F3F4F6"/>
          </a:solidFill>
          <a:ln/>
        </p:spPr>
        <p:txBody>
          <a:bodyPr/>
          <a:lstStyle/>
          <a:p>
            <a:endParaRPr lang="en-US"/>
          </a:p>
        </p:txBody>
      </p:sp>
      <p:sp>
        <p:nvSpPr>
          <p:cNvPr id="4" name="Text 2"/>
          <p:cNvSpPr/>
          <p:nvPr/>
        </p:nvSpPr>
        <p:spPr>
          <a:xfrm>
            <a:off x="182880" y="804672"/>
            <a:ext cx="1737360" cy="256032"/>
          </a:xfrm>
          <a:prstGeom prst="rect">
            <a:avLst/>
          </a:prstGeom>
          <a:noFill/>
          <a:ln/>
        </p:spPr>
        <p:txBody>
          <a:bodyPr wrap="square" rtlCol="0" anchor="ctr"/>
          <a:lstStyle/>
          <a:p>
            <a:pPr marL="0" indent="0" algn="ctr">
              <a:buNone/>
            </a:pPr>
            <a:r>
              <a:rPr lang="en-US" sz="900" b="1" dirty="0">
                <a:solidFill>
                  <a:srgbClr val="1F2937"/>
                </a:solidFill>
                <a:latin typeface="Calibri" pitchFamily="34" charset="0"/>
                <a:ea typeface="Calibri" pitchFamily="34" charset="-122"/>
                <a:cs typeface="Calibri" pitchFamily="34" charset="-120"/>
              </a:rPr>
              <a:t>Reviewer</a:t>
            </a:r>
            <a:endParaRPr lang="en-US" sz="900" dirty="0"/>
          </a:p>
        </p:txBody>
      </p:sp>
      <p:sp>
        <p:nvSpPr>
          <p:cNvPr id="5" name="Shape 3"/>
          <p:cNvSpPr/>
          <p:nvPr/>
        </p:nvSpPr>
        <p:spPr>
          <a:xfrm>
            <a:off x="2029968" y="749808"/>
            <a:ext cx="1737360" cy="4297680"/>
          </a:xfrm>
          <a:prstGeom prst="roundRect">
            <a:avLst>
              <a:gd name="adj" fmla="val 5263"/>
            </a:avLst>
          </a:prstGeom>
          <a:solidFill>
            <a:srgbClr val="E0F4F6"/>
          </a:solidFill>
          <a:ln/>
        </p:spPr>
        <p:txBody>
          <a:bodyPr/>
          <a:lstStyle/>
          <a:p>
            <a:endParaRPr lang="en-US"/>
          </a:p>
        </p:txBody>
      </p:sp>
      <p:sp>
        <p:nvSpPr>
          <p:cNvPr id="6" name="Text 4"/>
          <p:cNvSpPr/>
          <p:nvPr/>
        </p:nvSpPr>
        <p:spPr>
          <a:xfrm>
            <a:off x="2029968" y="804672"/>
            <a:ext cx="1737360" cy="256032"/>
          </a:xfrm>
          <a:prstGeom prst="rect">
            <a:avLst/>
          </a:prstGeom>
          <a:noFill/>
          <a:ln/>
        </p:spPr>
        <p:txBody>
          <a:bodyPr wrap="square" rtlCol="0" anchor="ctr"/>
          <a:lstStyle/>
          <a:p>
            <a:pPr marL="0" indent="0" algn="ctr">
              <a:buNone/>
            </a:pPr>
            <a:r>
              <a:rPr lang="en-US" sz="900" b="1" dirty="0">
                <a:solidFill>
                  <a:srgbClr val="1F2937"/>
                </a:solidFill>
                <a:latin typeface="Calibri" pitchFamily="34" charset="0"/>
                <a:ea typeface="Calibri" pitchFamily="34" charset="-122"/>
                <a:cs typeface="Calibri" pitchFamily="34" charset="-120"/>
              </a:rPr>
              <a:t>Angular</a:t>
            </a:r>
            <a:endParaRPr lang="en-US" sz="900" dirty="0"/>
          </a:p>
        </p:txBody>
      </p:sp>
      <p:sp>
        <p:nvSpPr>
          <p:cNvPr id="7" name="Shape 5"/>
          <p:cNvSpPr/>
          <p:nvPr/>
        </p:nvSpPr>
        <p:spPr>
          <a:xfrm>
            <a:off x="3858768" y="749808"/>
            <a:ext cx="1737360" cy="4297680"/>
          </a:xfrm>
          <a:prstGeom prst="roundRect">
            <a:avLst>
              <a:gd name="adj" fmla="val 5263"/>
            </a:avLst>
          </a:prstGeom>
          <a:solidFill>
            <a:srgbClr val="EDE9FE"/>
          </a:solidFill>
          <a:ln/>
        </p:spPr>
        <p:txBody>
          <a:bodyPr/>
          <a:lstStyle/>
          <a:p>
            <a:endParaRPr lang="en-US"/>
          </a:p>
        </p:txBody>
      </p:sp>
      <p:sp>
        <p:nvSpPr>
          <p:cNvPr id="8" name="Text 6"/>
          <p:cNvSpPr/>
          <p:nvPr/>
        </p:nvSpPr>
        <p:spPr>
          <a:xfrm>
            <a:off x="3858768" y="804672"/>
            <a:ext cx="1737360" cy="256032"/>
          </a:xfrm>
          <a:prstGeom prst="rect">
            <a:avLst/>
          </a:prstGeom>
          <a:noFill/>
          <a:ln/>
        </p:spPr>
        <p:txBody>
          <a:bodyPr wrap="square" rtlCol="0" anchor="ctr"/>
          <a:lstStyle/>
          <a:p>
            <a:pPr marL="0" indent="0" algn="ctr">
              <a:buNone/>
            </a:pPr>
            <a:r>
              <a:rPr lang="en-US" sz="900" b="1" dirty="0">
                <a:solidFill>
                  <a:srgbClr val="1F2937"/>
                </a:solidFill>
                <a:latin typeface="Calibri" pitchFamily="34" charset="0"/>
                <a:ea typeface="Calibri" pitchFamily="34" charset="-122"/>
                <a:cs typeface="Calibri" pitchFamily="34" charset="-120"/>
              </a:rPr>
              <a:t>NestJS</a:t>
            </a:r>
            <a:endParaRPr lang="en-US" sz="900" dirty="0"/>
          </a:p>
        </p:txBody>
      </p:sp>
      <p:sp>
        <p:nvSpPr>
          <p:cNvPr id="9" name="Shape 7"/>
          <p:cNvSpPr/>
          <p:nvPr/>
        </p:nvSpPr>
        <p:spPr>
          <a:xfrm>
            <a:off x="5687568" y="749808"/>
            <a:ext cx="1737360" cy="4297680"/>
          </a:xfrm>
          <a:prstGeom prst="roundRect">
            <a:avLst>
              <a:gd name="adj" fmla="val 5263"/>
            </a:avLst>
          </a:prstGeom>
          <a:solidFill>
            <a:srgbClr val="FFEDD5"/>
          </a:solidFill>
          <a:ln/>
        </p:spPr>
        <p:txBody>
          <a:bodyPr/>
          <a:lstStyle/>
          <a:p>
            <a:endParaRPr lang="en-US"/>
          </a:p>
        </p:txBody>
      </p:sp>
      <p:sp>
        <p:nvSpPr>
          <p:cNvPr id="10" name="Text 8"/>
          <p:cNvSpPr/>
          <p:nvPr/>
        </p:nvSpPr>
        <p:spPr>
          <a:xfrm>
            <a:off x="5687568" y="804672"/>
            <a:ext cx="1737360" cy="256032"/>
          </a:xfrm>
          <a:prstGeom prst="rect">
            <a:avLst/>
          </a:prstGeom>
          <a:noFill/>
          <a:ln/>
        </p:spPr>
        <p:txBody>
          <a:bodyPr wrap="square" rtlCol="0" anchor="ctr"/>
          <a:lstStyle/>
          <a:p>
            <a:pPr marL="0" indent="0" algn="ctr">
              <a:buNone/>
            </a:pPr>
            <a:r>
              <a:rPr lang="en-US" sz="900" b="1" dirty="0">
                <a:solidFill>
                  <a:srgbClr val="1F2937"/>
                </a:solidFill>
                <a:latin typeface="Calibri" pitchFamily="34" charset="0"/>
                <a:ea typeface="Calibri" pitchFamily="34" charset="-122"/>
                <a:cs typeface="Calibri" pitchFamily="34" charset="-120"/>
              </a:rPr>
              <a:t>github-mcp-server</a:t>
            </a:r>
            <a:endParaRPr lang="en-US" sz="900" dirty="0"/>
          </a:p>
        </p:txBody>
      </p:sp>
      <p:sp>
        <p:nvSpPr>
          <p:cNvPr id="11" name="Shape 9"/>
          <p:cNvSpPr/>
          <p:nvPr/>
        </p:nvSpPr>
        <p:spPr>
          <a:xfrm>
            <a:off x="7516368" y="749808"/>
            <a:ext cx="1737360" cy="4297680"/>
          </a:xfrm>
          <a:prstGeom prst="roundRect">
            <a:avLst>
              <a:gd name="adj" fmla="val 5263"/>
            </a:avLst>
          </a:prstGeom>
          <a:solidFill>
            <a:srgbClr val="FFF0E8"/>
          </a:solidFill>
          <a:ln/>
        </p:spPr>
        <p:txBody>
          <a:bodyPr/>
          <a:lstStyle/>
          <a:p>
            <a:endParaRPr lang="en-US"/>
          </a:p>
        </p:txBody>
      </p:sp>
      <p:sp>
        <p:nvSpPr>
          <p:cNvPr id="12" name="Text 10"/>
          <p:cNvSpPr/>
          <p:nvPr/>
        </p:nvSpPr>
        <p:spPr>
          <a:xfrm>
            <a:off x="7516368" y="804672"/>
            <a:ext cx="1737360" cy="256032"/>
          </a:xfrm>
          <a:prstGeom prst="rect">
            <a:avLst/>
          </a:prstGeom>
          <a:noFill/>
          <a:ln/>
        </p:spPr>
        <p:txBody>
          <a:bodyPr wrap="square" rtlCol="0" anchor="ctr"/>
          <a:lstStyle/>
          <a:p>
            <a:pPr marL="0" indent="0" algn="ctr">
              <a:buNone/>
            </a:pPr>
            <a:r>
              <a:rPr lang="en-US" sz="900" b="1" dirty="0">
                <a:solidFill>
                  <a:srgbClr val="1F2937"/>
                </a:solidFill>
                <a:latin typeface="Calibri" pitchFamily="34" charset="0"/>
                <a:ea typeface="Calibri" pitchFamily="34" charset="-122"/>
                <a:cs typeface="Calibri" pitchFamily="34" charset="-120"/>
              </a:rPr>
              <a:t>GitHub API</a:t>
            </a:r>
            <a:endParaRPr lang="en-US" sz="900" dirty="0"/>
          </a:p>
        </p:txBody>
      </p:sp>
      <p:sp>
        <p:nvSpPr>
          <p:cNvPr id="13" name="Shape 11"/>
          <p:cNvSpPr/>
          <p:nvPr/>
        </p:nvSpPr>
        <p:spPr>
          <a:xfrm>
            <a:off x="274320" y="1115568"/>
            <a:ext cx="1554480" cy="475488"/>
          </a:xfrm>
          <a:prstGeom prst="roundRect">
            <a:avLst>
              <a:gd name="adj" fmla="val 15385"/>
            </a:avLst>
          </a:prstGeom>
          <a:solidFill>
            <a:srgbClr val="374151"/>
          </a:solidFill>
          <a:ln/>
          <a:effectLst>
            <a:outerShdw blurRad="63500" dist="25400" dir="2700000" algn="bl" rotWithShape="0">
              <a:srgbClr val="000000">
                <a:alpha val="10000"/>
              </a:srgbClr>
            </a:outerShdw>
          </a:effectLst>
        </p:spPr>
        <p:txBody>
          <a:bodyPr/>
          <a:lstStyle/>
          <a:p>
            <a:endParaRPr lang="en-US"/>
          </a:p>
        </p:txBody>
      </p:sp>
      <p:sp>
        <p:nvSpPr>
          <p:cNvPr id="14" name="Text 12"/>
          <p:cNvSpPr/>
          <p:nvPr/>
        </p:nvSpPr>
        <p:spPr>
          <a:xfrm>
            <a:off x="274320" y="1115568"/>
            <a:ext cx="1554480" cy="47548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Enter PAT +</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owner handle</a:t>
            </a:r>
            <a:endParaRPr lang="en-US" sz="850" dirty="0"/>
          </a:p>
        </p:txBody>
      </p:sp>
      <p:sp>
        <p:nvSpPr>
          <p:cNvPr id="15" name="Shape 13"/>
          <p:cNvSpPr/>
          <p:nvPr/>
        </p:nvSpPr>
        <p:spPr>
          <a:xfrm>
            <a:off x="1920240" y="1353312"/>
            <a:ext cx="109728" cy="0"/>
          </a:xfrm>
          <a:prstGeom prst="line">
            <a:avLst/>
          </a:prstGeom>
          <a:noFill/>
          <a:ln w="19050">
            <a:solidFill>
              <a:srgbClr val="374151"/>
            </a:solidFill>
            <a:prstDash val="solid"/>
            <a:tailEnd type="arrow"/>
          </a:ln>
        </p:spPr>
        <p:txBody>
          <a:bodyPr/>
          <a:lstStyle/>
          <a:p>
            <a:endParaRPr lang="en-US"/>
          </a:p>
        </p:txBody>
      </p:sp>
      <p:sp>
        <p:nvSpPr>
          <p:cNvPr id="16" name="Shape 14"/>
          <p:cNvSpPr/>
          <p:nvPr/>
        </p:nvSpPr>
        <p:spPr>
          <a:xfrm>
            <a:off x="2121408" y="1115568"/>
            <a:ext cx="1554480" cy="475488"/>
          </a:xfrm>
          <a:prstGeom prst="roundRect">
            <a:avLst>
              <a:gd name="adj" fmla="val 15385"/>
            </a:avLst>
          </a:prstGeom>
          <a:solidFill>
            <a:srgbClr val="028090"/>
          </a:solidFill>
          <a:ln/>
          <a:effectLst>
            <a:outerShdw blurRad="63500" dist="25400" dir="2700000" algn="bl" rotWithShape="0">
              <a:srgbClr val="000000">
                <a:alpha val="10000"/>
              </a:srgbClr>
            </a:outerShdw>
          </a:effectLst>
        </p:spPr>
        <p:txBody>
          <a:bodyPr/>
          <a:lstStyle/>
          <a:p>
            <a:endParaRPr lang="en-US"/>
          </a:p>
        </p:txBody>
      </p:sp>
      <p:sp>
        <p:nvSpPr>
          <p:cNvPr id="17" name="Text 15"/>
          <p:cNvSpPr/>
          <p:nvPr/>
        </p:nvSpPr>
        <p:spPr>
          <a:xfrm>
            <a:off x="2121408" y="1115568"/>
            <a:ext cx="1554480" cy="47548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GET /api/github-</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projects/boards</a:t>
            </a:r>
            <a:endParaRPr lang="en-US" sz="850" dirty="0"/>
          </a:p>
        </p:txBody>
      </p:sp>
      <p:sp>
        <p:nvSpPr>
          <p:cNvPr id="18" name="Shape 16"/>
          <p:cNvSpPr/>
          <p:nvPr/>
        </p:nvSpPr>
        <p:spPr>
          <a:xfrm>
            <a:off x="3767328" y="1353312"/>
            <a:ext cx="91440" cy="0"/>
          </a:xfrm>
          <a:prstGeom prst="line">
            <a:avLst/>
          </a:prstGeom>
          <a:noFill/>
          <a:ln w="19050">
            <a:solidFill>
              <a:srgbClr val="028090"/>
            </a:solidFill>
            <a:prstDash val="solid"/>
            <a:tailEnd type="arrow"/>
          </a:ln>
        </p:spPr>
        <p:txBody>
          <a:bodyPr/>
          <a:lstStyle/>
          <a:p>
            <a:endParaRPr lang="en-US"/>
          </a:p>
        </p:txBody>
      </p:sp>
      <p:sp>
        <p:nvSpPr>
          <p:cNvPr id="19" name="Shape 17"/>
          <p:cNvSpPr/>
          <p:nvPr/>
        </p:nvSpPr>
        <p:spPr>
          <a:xfrm>
            <a:off x="3950208" y="1115568"/>
            <a:ext cx="1554480" cy="475488"/>
          </a:xfrm>
          <a:prstGeom prst="roundRect">
            <a:avLst>
              <a:gd name="adj" fmla="val 15385"/>
            </a:avLst>
          </a:prstGeom>
          <a:solidFill>
            <a:srgbClr val="C2410C"/>
          </a:solidFill>
          <a:ln/>
          <a:effectLst>
            <a:outerShdw blurRad="63500" dist="25400" dir="2700000" algn="bl" rotWithShape="0">
              <a:srgbClr val="000000">
                <a:alpha val="10000"/>
              </a:srgbClr>
            </a:outerShdw>
          </a:effectLst>
        </p:spPr>
        <p:txBody>
          <a:bodyPr/>
          <a:lstStyle/>
          <a:p>
            <a:endParaRPr lang="en-US"/>
          </a:p>
        </p:txBody>
      </p:sp>
      <p:sp>
        <p:nvSpPr>
          <p:cNvPr id="20" name="Text 18"/>
          <p:cNvSpPr/>
          <p:nvPr/>
        </p:nvSpPr>
        <p:spPr>
          <a:xfrm>
            <a:off x="3950208" y="1115568"/>
            <a:ext cx="1554480" cy="47548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GithubMcpClient</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callTool(list_projects)</a:t>
            </a:r>
            <a:endParaRPr lang="en-US" sz="850" dirty="0"/>
          </a:p>
        </p:txBody>
      </p:sp>
      <p:sp>
        <p:nvSpPr>
          <p:cNvPr id="21" name="Shape 19"/>
          <p:cNvSpPr/>
          <p:nvPr/>
        </p:nvSpPr>
        <p:spPr>
          <a:xfrm>
            <a:off x="5596128" y="1353312"/>
            <a:ext cx="91440" cy="0"/>
          </a:xfrm>
          <a:prstGeom prst="line">
            <a:avLst/>
          </a:prstGeom>
          <a:noFill/>
          <a:ln w="19050">
            <a:solidFill>
              <a:srgbClr val="C2410C"/>
            </a:solidFill>
            <a:prstDash val="solid"/>
            <a:tailEnd type="arrow"/>
          </a:ln>
        </p:spPr>
        <p:txBody>
          <a:bodyPr/>
          <a:lstStyle/>
          <a:p>
            <a:endParaRPr lang="en-US"/>
          </a:p>
        </p:txBody>
      </p:sp>
      <p:sp>
        <p:nvSpPr>
          <p:cNvPr id="22" name="Shape 20"/>
          <p:cNvSpPr/>
          <p:nvPr/>
        </p:nvSpPr>
        <p:spPr>
          <a:xfrm>
            <a:off x="5779008" y="1115568"/>
            <a:ext cx="1554480" cy="475488"/>
          </a:xfrm>
          <a:prstGeom prst="roundRect">
            <a:avLst>
              <a:gd name="adj" fmla="val 15385"/>
            </a:avLst>
          </a:prstGeom>
          <a:solidFill>
            <a:srgbClr val="C2410C"/>
          </a:solidFill>
          <a:ln/>
          <a:effectLst>
            <a:outerShdw blurRad="63500" dist="25400" dir="2700000" algn="bl" rotWithShape="0">
              <a:srgbClr val="000000">
                <a:alpha val="10000"/>
              </a:srgbClr>
            </a:outerShdw>
          </a:effectLst>
        </p:spPr>
        <p:txBody>
          <a:bodyPr/>
          <a:lstStyle/>
          <a:p>
            <a:endParaRPr lang="en-US"/>
          </a:p>
        </p:txBody>
      </p:sp>
      <p:sp>
        <p:nvSpPr>
          <p:cNvPr id="23" name="Text 21"/>
          <p:cNvSpPr/>
          <p:nvPr/>
        </p:nvSpPr>
        <p:spPr>
          <a:xfrm>
            <a:off x="5779008" y="1115568"/>
            <a:ext cx="1554480" cy="47548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MCP stdio</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callTool</a:t>
            </a:r>
            <a:endParaRPr lang="en-US" sz="850" dirty="0"/>
          </a:p>
        </p:txBody>
      </p:sp>
      <p:sp>
        <p:nvSpPr>
          <p:cNvPr id="24" name="Shape 22"/>
          <p:cNvSpPr/>
          <p:nvPr/>
        </p:nvSpPr>
        <p:spPr>
          <a:xfrm>
            <a:off x="7424928" y="1353312"/>
            <a:ext cx="91440" cy="0"/>
          </a:xfrm>
          <a:prstGeom prst="line">
            <a:avLst/>
          </a:prstGeom>
          <a:noFill/>
          <a:ln w="19050">
            <a:solidFill>
              <a:srgbClr val="C2410C"/>
            </a:solidFill>
            <a:prstDash val="solid"/>
            <a:tailEnd type="arrow"/>
          </a:ln>
        </p:spPr>
        <p:txBody>
          <a:bodyPr/>
          <a:lstStyle/>
          <a:p>
            <a:endParaRPr lang="en-US"/>
          </a:p>
        </p:txBody>
      </p:sp>
      <p:sp>
        <p:nvSpPr>
          <p:cNvPr id="25" name="Shape 23"/>
          <p:cNvSpPr/>
          <p:nvPr/>
        </p:nvSpPr>
        <p:spPr>
          <a:xfrm>
            <a:off x="7607808" y="1115568"/>
            <a:ext cx="1554480" cy="475488"/>
          </a:xfrm>
          <a:prstGeom prst="roundRect">
            <a:avLst>
              <a:gd name="adj" fmla="val 15385"/>
            </a:avLst>
          </a:prstGeom>
          <a:solidFill>
            <a:srgbClr val="374151"/>
          </a:solidFill>
          <a:ln/>
          <a:effectLst>
            <a:outerShdw blurRad="63500" dist="25400" dir="2700000" algn="bl" rotWithShape="0">
              <a:srgbClr val="000000">
                <a:alpha val="10000"/>
              </a:srgbClr>
            </a:outerShdw>
          </a:effectLst>
        </p:spPr>
        <p:txBody>
          <a:bodyPr/>
          <a:lstStyle/>
          <a:p>
            <a:endParaRPr lang="en-US"/>
          </a:p>
        </p:txBody>
      </p:sp>
      <p:sp>
        <p:nvSpPr>
          <p:cNvPr id="26" name="Text 24"/>
          <p:cNvSpPr/>
          <p:nvPr/>
        </p:nvSpPr>
        <p:spPr>
          <a:xfrm>
            <a:off x="7607808" y="1115568"/>
            <a:ext cx="1554480" cy="47548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GraphQL</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Projects v2 API</a:t>
            </a:r>
            <a:endParaRPr lang="en-US" sz="850" dirty="0"/>
          </a:p>
        </p:txBody>
      </p:sp>
      <p:sp>
        <p:nvSpPr>
          <p:cNvPr id="27" name="Shape 25"/>
          <p:cNvSpPr/>
          <p:nvPr/>
        </p:nvSpPr>
        <p:spPr>
          <a:xfrm>
            <a:off x="9253728" y="1719072"/>
            <a:ext cx="0" cy="0"/>
          </a:xfrm>
          <a:prstGeom prst="line">
            <a:avLst/>
          </a:prstGeom>
          <a:noFill/>
          <a:ln w="19050">
            <a:solidFill>
              <a:srgbClr val="374151"/>
            </a:solidFill>
            <a:prstDash val="dash"/>
            <a:tailEnd type="arrow"/>
          </a:ln>
        </p:spPr>
        <p:txBody>
          <a:bodyPr/>
          <a:lstStyle/>
          <a:p>
            <a:endParaRPr lang="en-US"/>
          </a:p>
        </p:txBody>
      </p:sp>
      <p:sp>
        <p:nvSpPr>
          <p:cNvPr id="28" name="Shape 26"/>
          <p:cNvSpPr/>
          <p:nvPr/>
        </p:nvSpPr>
        <p:spPr>
          <a:xfrm>
            <a:off x="7424928" y="1719072"/>
            <a:ext cx="0" cy="0"/>
          </a:xfrm>
          <a:prstGeom prst="line">
            <a:avLst/>
          </a:prstGeom>
          <a:noFill/>
          <a:ln w="19050">
            <a:solidFill>
              <a:srgbClr val="374151"/>
            </a:solidFill>
            <a:prstDash val="dash"/>
            <a:tailEnd type="arrow"/>
          </a:ln>
        </p:spPr>
        <p:txBody>
          <a:bodyPr/>
          <a:lstStyle/>
          <a:p>
            <a:endParaRPr lang="en-US"/>
          </a:p>
        </p:txBody>
      </p:sp>
      <p:sp>
        <p:nvSpPr>
          <p:cNvPr id="29" name="Shape 27"/>
          <p:cNvSpPr/>
          <p:nvPr/>
        </p:nvSpPr>
        <p:spPr>
          <a:xfrm>
            <a:off x="5596128" y="1719072"/>
            <a:ext cx="0" cy="0"/>
          </a:xfrm>
          <a:prstGeom prst="line">
            <a:avLst/>
          </a:prstGeom>
          <a:noFill/>
          <a:ln w="19050">
            <a:solidFill>
              <a:srgbClr val="028090"/>
            </a:solidFill>
            <a:prstDash val="dash"/>
            <a:tailEnd type="arrow"/>
          </a:ln>
        </p:spPr>
        <p:txBody>
          <a:bodyPr/>
          <a:lstStyle/>
          <a:p>
            <a:endParaRPr lang="en-US"/>
          </a:p>
        </p:txBody>
      </p:sp>
      <p:sp>
        <p:nvSpPr>
          <p:cNvPr id="30" name="Shape 28"/>
          <p:cNvSpPr/>
          <p:nvPr/>
        </p:nvSpPr>
        <p:spPr>
          <a:xfrm>
            <a:off x="2121408" y="1755648"/>
            <a:ext cx="1554480" cy="475488"/>
          </a:xfrm>
          <a:prstGeom prst="roundRect">
            <a:avLst>
              <a:gd name="adj" fmla="val 15385"/>
            </a:avLst>
          </a:prstGeom>
          <a:solidFill>
            <a:srgbClr val="028090"/>
          </a:solidFill>
          <a:ln/>
          <a:effectLst>
            <a:outerShdw blurRad="63500" dist="25400" dir="2700000" algn="bl" rotWithShape="0">
              <a:srgbClr val="000000">
                <a:alpha val="10000"/>
              </a:srgbClr>
            </a:outerShdw>
          </a:effectLst>
        </p:spPr>
        <p:txBody>
          <a:bodyPr/>
          <a:lstStyle/>
          <a:p>
            <a:endParaRPr lang="en-US"/>
          </a:p>
        </p:txBody>
      </p:sp>
      <p:sp>
        <p:nvSpPr>
          <p:cNvPr id="31" name="Text 29"/>
          <p:cNvSpPr/>
          <p:nvPr/>
        </p:nvSpPr>
        <p:spPr>
          <a:xfrm>
            <a:off x="2121408" y="1755648"/>
            <a:ext cx="1554480" cy="47548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board list</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displayed</a:t>
            </a:r>
            <a:endParaRPr lang="en-US" sz="850" dirty="0"/>
          </a:p>
        </p:txBody>
      </p:sp>
      <p:sp>
        <p:nvSpPr>
          <p:cNvPr id="32" name="Shape 30"/>
          <p:cNvSpPr/>
          <p:nvPr/>
        </p:nvSpPr>
        <p:spPr>
          <a:xfrm>
            <a:off x="274320" y="2414016"/>
            <a:ext cx="1554480" cy="475488"/>
          </a:xfrm>
          <a:prstGeom prst="roundRect">
            <a:avLst>
              <a:gd name="adj" fmla="val 15385"/>
            </a:avLst>
          </a:prstGeom>
          <a:solidFill>
            <a:srgbClr val="374151"/>
          </a:solidFill>
          <a:ln/>
          <a:effectLst>
            <a:outerShdw blurRad="63500" dist="25400" dir="2700000" algn="bl" rotWithShape="0">
              <a:srgbClr val="000000">
                <a:alpha val="10000"/>
              </a:srgbClr>
            </a:outerShdw>
          </a:effectLst>
        </p:spPr>
        <p:txBody>
          <a:bodyPr/>
          <a:lstStyle/>
          <a:p>
            <a:endParaRPr lang="en-US"/>
          </a:p>
        </p:txBody>
      </p:sp>
      <p:sp>
        <p:nvSpPr>
          <p:cNvPr id="33" name="Text 31"/>
          <p:cNvSpPr/>
          <p:nvPr/>
        </p:nvSpPr>
        <p:spPr>
          <a:xfrm>
            <a:off x="274320" y="2414016"/>
            <a:ext cx="1554480" cy="47548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Select board</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 view /backlog</a:t>
            </a:r>
            <a:endParaRPr lang="en-US" sz="850" dirty="0"/>
          </a:p>
        </p:txBody>
      </p:sp>
      <p:sp>
        <p:nvSpPr>
          <p:cNvPr id="34" name="Shape 32"/>
          <p:cNvSpPr/>
          <p:nvPr/>
        </p:nvSpPr>
        <p:spPr>
          <a:xfrm>
            <a:off x="1920240" y="2651760"/>
            <a:ext cx="109728" cy="0"/>
          </a:xfrm>
          <a:prstGeom prst="line">
            <a:avLst/>
          </a:prstGeom>
          <a:noFill/>
          <a:ln w="19050">
            <a:solidFill>
              <a:srgbClr val="374151"/>
            </a:solidFill>
            <a:prstDash val="solid"/>
            <a:tailEnd type="arrow"/>
          </a:ln>
        </p:spPr>
        <p:txBody>
          <a:bodyPr/>
          <a:lstStyle/>
          <a:p>
            <a:endParaRPr lang="en-US"/>
          </a:p>
        </p:txBody>
      </p:sp>
      <p:sp>
        <p:nvSpPr>
          <p:cNvPr id="35" name="Shape 33"/>
          <p:cNvSpPr/>
          <p:nvPr/>
        </p:nvSpPr>
        <p:spPr>
          <a:xfrm>
            <a:off x="2121408" y="2414016"/>
            <a:ext cx="1554480" cy="475488"/>
          </a:xfrm>
          <a:prstGeom prst="roundRect">
            <a:avLst>
              <a:gd name="adj" fmla="val 15385"/>
            </a:avLst>
          </a:prstGeom>
          <a:solidFill>
            <a:srgbClr val="028090"/>
          </a:solidFill>
          <a:ln/>
          <a:effectLst>
            <a:outerShdw blurRad="63500" dist="25400" dir="2700000" algn="bl" rotWithShape="0">
              <a:srgbClr val="000000">
                <a:alpha val="10000"/>
              </a:srgbClr>
            </a:outerShdw>
          </a:effectLst>
        </p:spPr>
        <p:txBody>
          <a:bodyPr/>
          <a:lstStyle/>
          <a:p>
            <a:endParaRPr lang="en-US"/>
          </a:p>
        </p:txBody>
      </p:sp>
      <p:sp>
        <p:nvSpPr>
          <p:cNvPr id="36" name="Text 34"/>
          <p:cNvSpPr/>
          <p:nvPr/>
        </p:nvSpPr>
        <p:spPr>
          <a:xfrm>
            <a:off x="2121408" y="2414016"/>
            <a:ext cx="1554480" cy="47548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GET /api/github-</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projects/items</a:t>
            </a:r>
            <a:endParaRPr lang="en-US" sz="850" dirty="0"/>
          </a:p>
        </p:txBody>
      </p:sp>
      <p:sp>
        <p:nvSpPr>
          <p:cNvPr id="37" name="Shape 35"/>
          <p:cNvSpPr/>
          <p:nvPr/>
        </p:nvSpPr>
        <p:spPr>
          <a:xfrm>
            <a:off x="3767328" y="2651760"/>
            <a:ext cx="91440" cy="0"/>
          </a:xfrm>
          <a:prstGeom prst="line">
            <a:avLst/>
          </a:prstGeom>
          <a:noFill/>
          <a:ln w="19050">
            <a:solidFill>
              <a:srgbClr val="028090"/>
            </a:solidFill>
            <a:prstDash val="solid"/>
            <a:tailEnd type="arrow"/>
          </a:ln>
        </p:spPr>
        <p:txBody>
          <a:bodyPr/>
          <a:lstStyle/>
          <a:p>
            <a:endParaRPr lang="en-US"/>
          </a:p>
        </p:txBody>
      </p:sp>
      <p:sp>
        <p:nvSpPr>
          <p:cNvPr id="38" name="Shape 36"/>
          <p:cNvSpPr/>
          <p:nvPr/>
        </p:nvSpPr>
        <p:spPr>
          <a:xfrm>
            <a:off x="3950208" y="2414016"/>
            <a:ext cx="1554480" cy="475488"/>
          </a:xfrm>
          <a:prstGeom prst="roundRect">
            <a:avLst>
              <a:gd name="adj" fmla="val 15385"/>
            </a:avLst>
          </a:prstGeom>
          <a:solidFill>
            <a:srgbClr val="5B21B6"/>
          </a:solidFill>
          <a:ln/>
          <a:effectLst>
            <a:outerShdw blurRad="63500" dist="25400" dir="2700000" algn="bl" rotWithShape="0">
              <a:srgbClr val="000000">
                <a:alpha val="10000"/>
              </a:srgbClr>
            </a:outerShdw>
          </a:effectLst>
        </p:spPr>
        <p:txBody>
          <a:bodyPr/>
          <a:lstStyle/>
          <a:p>
            <a:endParaRPr lang="en-US"/>
          </a:p>
        </p:txBody>
      </p:sp>
      <p:sp>
        <p:nvSpPr>
          <p:cNvPr id="39" name="Text 37"/>
          <p:cNvSpPr/>
          <p:nvPr/>
        </p:nvSpPr>
        <p:spPr>
          <a:xfrm>
            <a:off x="3950208" y="2414016"/>
            <a:ext cx="1554480" cy="47548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GithubProjectsContext</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fetchItems()</a:t>
            </a:r>
            <a:endParaRPr lang="en-US" sz="850" dirty="0"/>
          </a:p>
        </p:txBody>
      </p:sp>
      <p:sp>
        <p:nvSpPr>
          <p:cNvPr id="40" name="Shape 38"/>
          <p:cNvSpPr/>
          <p:nvPr/>
        </p:nvSpPr>
        <p:spPr>
          <a:xfrm>
            <a:off x="5596128" y="2651760"/>
            <a:ext cx="91440" cy="0"/>
          </a:xfrm>
          <a:prstGeom prst="line">
            <a:avLst/>
          </a:prstGeom>
          <a:noFill/>
          <a:ln w="19050">
            <a:solidFill>
              <a:srgbClr val="C2410C"/>
            </a:solidFill>
            <a:prstDash val="solid"/>
            <a:tailEnd type="arrow"/>
          </a:ln>
        </p:spPr>
        <p:txBody>
          <a:bodyPr/>
          <a:lstStyle/>
          <a:p>
            <a:endParaRPr lang="en-US"/>
          </a:p>
        </p:txBody>
      </p:sp>
      <p:sp>
        <p:nvSpPr>
          <p:cNvPr id="41" name="Shape 39"/>
          <p:cNvSpPr/>
          <p:nvPr/>
        </p:nvSpPr>
        <p:spPr>
          <a:xfrm>
            <a:off x="5779008" y="2414016"/>
            <a:ext cx="1554480" cy="475488"/>
          </a:xfrm>
          <a:prstGeom prst="roundRect">
            <a:avLst>
              <a:gd name="adj" fmla="val 15385"/>
            </a:avLst>
          </a:prstGeom>
          <a:solidFill>
            <a:srgbClr val="C2410C"/>
          </a:solidFill>
          <a:ln/>
          <a:effectLst>
            <a:outerShdw blurRad="63500" dist="25400" dir="2700000" algn="bl" rotWithShape="0">
              <a:srgbClr val="000000">
                <a:alpha val="10000"/>
              </a:srgbClr>
            </a:outerShdw>
          </a:effectLst>
        </p:spPr>
        <p:txBody>
          <a:bodyPr/>
          <a:lstStyle/>
          <a:p>
            <a:endParaRPr lang="en-US"/>
          </a:p>
        </p:txBody>
      </p:sp>
      <p:sp>
        <p:nvSpPr>
          <p:cNvPr id="42" name="Text 40"/>
          <p:cNvSpPr/>
          <p:nvPr/>
        </p:nvSpPr>
        <p:spPr>
          <a:xfrm>
            <a:off x="5779008" y="2414016"/>
            <a:ext cx="1554480" cy="47548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list_project</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_items</a:t>
            </a:r>
            <a:endParaRPr lang="en-US" sz="850" dirty="0"/>
          </a:p>
        </p:txBody>
      </p:sp>
      <p:sp>
        <p:nvSpPr>
          <p:cNvPr id="43" name="Shape 41"/>
          <p:cNvSpPr/>
          <p:nvPr/>
        </p:nvSpPr>
        <p:spPr>
          <a:xfrm>
            <a:off x="7424928" y="2651760"/>
            <a:ext cx="91440" cy="0"/>
          </a:xfrm>
          <a:prstGeom prst="line">
            <a:avLst/>
          </a:prstGeom>
          <a:noFill/>
          <a:ln w="19050">
            <a:solidFill>
              <a:srgbClr val="C2410C"/>
            </a:solidFill>
            <a:prstDash val="solid"/>
            <a:tailEnd type="arrow"/>
          </a:ln>
        </p:spPr>
        <p:txBody>
          <a:bodyPr/>
          <a:lstStyle/>
          <a:p>
            <a:endParaRPr lang="en-US"/>
          </a:p>
        </p:txBody>
      </p:sp>
      <p:sp>
        <p:nvSpPr>
          <p:cNvPr id="44" name="Shape 42"/>
          <p:cNvSpPr/>
          <p:nvPr/>
        </p:nvSpPr>
        <p:spPr>
          <a:xfrm>
            <a:off x="7607808" y="2414016"/>
            <a:ext cx="1554480" cy="475488"/>
          </a:xfrm>
          <a:prstGeom prst="roundRect">
            <a:avLst>
              <a:gd name="adj" fmla="val 15385"/>
            </a:avLst>
          </a:prstGeom>
          <a:solidFill>
            <a:srgbClr val="374151"/>
          </a:solidFill>
          <a:ln/>
          <a:effectLst>
            <a:outerShdw blurRad="63500" dist="25400" dir="2700000" algn="bl" rotWithShape="0">
              <a:srgbClr val="000000">
                <a:alpha val="10000"/>
              </a:srgbClr>
            </a:outerShdw>
          </a:effectLst>
        </p:spPr>
        <p:txBody>
          <a:bodyPr/>
          <a:lstStyle/>
          <a:p>
            <a:endParaRPr lang="en-US"/>
          </a:p>
        </p:txBody>
      </p:sp>
      <p:sp>
        <p:nvSpPr>
          <p:cNvPr id="45" name="Text 43"/>
          <p:cNvSpPr/>
          <p:nvPr/>
        </p:nvSpPr>
        <p:spPr>
          <a:xfrm>
            <a:off x="7607808" y="2414016"/>
            <a:ext cx="1554480" cy="47548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Items from</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board</a:t>
            </a:r>
            <a:endParaRPr lang="en-US" sz="850" dirty="0"/>
          </a:p>
        </p:txBody>
      </p:sp>
      <p:sp>
        <p:nvSpPr>
          <p:cNvPr id="46" name="Shape 44"/>
          <p:cNvSpPr/>
          <p:nvPr/>
        </p:nvSpPr>
        <p:spPr>
          <a:xfrm>
            <a:off x="9253728" y="3017520"/>
            <a:ext cx="0" cy="0"/>
          </a:xfrm>
          <a:prstGeom prst="line">
            <a:avLst/>
          </a:prstGeom>
          <a:noFill/>
          <a:ln w="19050">
            <a:solidFill>
              <a:srgbClr val="028090"/>
            </a:solidFill>
            <a:prstDash val="dash"/>
            <a:tailEnd type="arrow"/>
          </a:ln>
        </p:spPr>
        <p:txBody>
          <a:bodyPr/>
          <a:lstStyle/>
          <a:p>
            <a:endParaRPr lang="en-US"/>
          </a:p>
        </p:txBody>
      </p:sp>
      <p:sp>
        <p:nvSpPr>
          <p:cNvPr id="47" name="Shape 45"/>
          <p:cNvSpPr/>
          <p:nvPr/>
        </p:nvSpPr>
        <p:spPr>
          <a:xfrm>
            <a:off x="2121408" y="3054096"/>
            <a:ext cx="1554480" cy="475488"/>
          </a:xfrm>
          <a:prstGeom prst="roundRect">
            <a:avLst>
              <a:gd name="adj" fmla="val 15385"/>
            </a:avLst>
          </a:prstGeom>
          <a:solidFill>
            <a:srgbClr val="028090"/>
          </a:solidFill>
          <a:ln/>
          <a:effectLst>
            <a:outerShdw blurRad="63500" dist="25400" dir="2700000" algn="bl" rotWithShape="0">
              <a:srgbClr val="000000">
                <a:alpha val="10000"/>
              </a:srgbClr>
            </a:outerShdw>
          </a:effectLst>
        </p:spPr>
        <p:txBody>
          <a:bodyPr/>
          <a:lstStyle/>
          <a:p>
            <a:endParaRPr lang="en-US"/>
          </a:p>
        </p:txBody>
      </p:sp>
      <p:sp>
        <p:nvSpPr>
          <p:cNvPr id="48" name="Text 46"/>
          <p:cNvSpPr/>
          <p:nvPr/>
        </p:nvSpPr>
        <p:spPr>
          <a:xfrm>
            <a:off x="2121408" y="3054096"/>
            <a:ext cx="1554480" cy="47548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Live items shown</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in UI</a:t>
            </a:r>
            <a:endParaRPr lang="en-US" sz="850" dirty="0"/>
          </a:p>
        </p:txBody>
      </p:sp>
      <p:sp>
        <p:nvSpPr>
          <p:cNvPr id="49" name="Shape 47"/>
          <p:cNvSpPr/>
          <p:nvPr/>
        </p:nvSpPr>
        <p:spPr>
          <a:xfrm>
            <a:off x="274320" y="3694176"/>
            <a:ext cx="1554480" cy="475488"/>
          </a:xfrm>
          <a:prstGeom prst="roundRect">
            <a:avLst>
              <a:gd name="adj" fmla="val 15385"/>
            </a:avLst>
          </a:prstGeom>
          <a:solidFill>
            <a:srgbClr val="374151"/>
          </a:solidFill>
          <a:ln/>
          <a:effectLst>
            <a:outerShdw blurRad="63500" dist="25400" dir="2700000" algn="bl" rotWithShape="0">
              <a:srgbClr val="000000">
                <a:alpha val="10000"/>
              </a:srgbClr>
            </a:outerShdw>
          </a:effectLst>
        </p:spPr>
        <p:txBody>
          <a:bodyPr/>
          <a:lstStyle/>
          <a:p>
            <a:endParaRPr lang="en-US"/>
          </a:p>
        </p:txBody>
      </p:sp>
      <p:sp>
        <p:nvSpPr>
          <p:cNvPr id="50" name="Text 48"/>
          <p:cNvSpPr/>
          <p:nvPr/>
        </p:nvSpPr>
        <p:spPr>
          <a:xfrm>
            <a:off x="274320" y="3694176"/>
            <a:ext cx="1554480" cy="47548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Publish to</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GitHub ✓</a:t>
            </a:r>
            <a:endParaRPr lang="en-US" sz="850" dirty="0"/>
          </a:p>
        </p:txBody>
      </p:sp>
      <p:sp>
        <p:nvSpPr>
          <p:cNvPr id="51" name="Shape 49"/>
          <p:cNvSpPr/>
          <p:nvPr/>
        </p:nvSpPr>
        <p:spPr>
          <a:xfrm>
            <a:off x="1920240" y="3931920"/>
            <a:ext cx="109728" cy="0"/>
          </a:xfrm>
          <a:prstGeom prst="line">
            <a:avLst/>
          </a:prstGeom>
          <a:noFill/>
          <a:ln w="19050">
            <a:solidFill>
              <a:srgbClr val="374151"/>
            </a:solidFill>
            <a:prstDash val="solid"/>
            <a:tailEnd type="arrow"/>
          </a:ln>
        </p:spPr>
        <p:txBody>
          <a:bodyPr/>
          <a:lstStyle/>
          <a:p>
            <a:endParaRPr lang="en-US"/>
          </a:p>
        </p:txBody>
      </p:sp>
      <p:sp>
        <p:nvSpPr>
          <p:cNvPr id="52" name="Shape 50"/>
          <p:cNvSpPr/>
          <p:nvPr/>
        </p:nvSpPr>
        <p:spPr>
          <a:xfrm>
            <a:off x="2121408" y="3694176"/>
            <a:ext cx="1554480" cy="475488"/>
          </a:xfrm>
          <a:prstGeom prst="roundRect">
            <a:avLst>
              <a:gd name="adj" fmla="val 15385"/>
            </a:avLst>
          </a:prstGeom>
          <a:solidFill>
            <a:srgbClr val="028090"/>
          </a:solidFill>
          <a:ln/>
          <a:effectLst>
            <a:outerShdw blurRad="63500" dist="25400" dir="2700000" algn="bl" rotWithShape="0">
              <a:srgbClr val="000000">
                <a:alpha val="10000"/>
              </a:srgbClr>
            </a:outerShdw>
          </a:effectLst>
        </p:spPr>
        <p:txBody>
          <a:bodyPr/>
          <a:lstStyle/>
          <a:p>
            <a:endParaRPr lang="en-US"/>
          </a:p>
        </p:txBody>
      </p:sp>
      <p:sp>
        <p:nvSpPr>
          <p:cNvPr id="53" name="Text 51"/>
          <p:cNvSpPr/>
          <p:nvPr/>
        </p:nvSpPr>
        <p:spPr>
          <a:xfrm>
            <a:off x="2121408" y="3694176"/>
            <a:ext cx="1554480" cy="47548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POST /api/github-</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projects/publish</a:t>
            </a:r>
            <a:endParaRPr lang="en-US" sz="850" dirty="0"/>
          </a:p>
        </p:txBody>
      </p:sp>
      <p:sp>
        <p:nvSpPr>
          <p:cNvPr id="54" name="Shape 52"/>
          <p:cNvSpPr/>
          <p:nvPr/>
        </p:nvSpPr>
        <p:spPr>
          <a:xfrm>
            <a:off x="3767328" y="3931920"/>
            <a:ext cx="91440" cy="0"/>
          </a:xfrm>
          <a:prstGeom prst="line">
            <a:avLst/>
          </a:prstGeom>
          <a:noFill/>
          <a:ln w="19050">
            <a:solidFill>
              <a:srgbClr val="028090"/>
            </a:solidFill>
            <a:prstDash val="solid"/>
            <a:tailEnd type="arrow"/>
          </a:ln>
        </p:spPr>
        <p:txBody>
          <a:bodyPr/>
          <a:lstStyle/>
          <a:p>
            <a:endParaRPr lang="en-US"/>
          </a:p>
        </p:txBody>
      </p:sp>
      <p:sp>
        <p:nvSpPr>
          <p:cNvPr id="55" name="Shape 53"/>
          <p:cNvSpPr/>
          <p:nvPr/>
        </p:nvSpPr>
        <p:spPr>
          <a:xfrm>
            <a:off x="3950208" y="3694176"/>
            <a:ext cx="1554480" cy="475488"/>
          </a:xfrm>
          <a:prstGeom prst="roundRect">
            <a:avLst>
              <a:gd name="adj" fmla="val 15385"/>
            </a:avLst>
          </a:prstGeom>
          <a:solidFill>
            <a:srgbClr val="C2410C"/>
          </a:solidFill>
          <a:ln/>
          <a:effectLst>
            <a:outerShdw blurRad="63500" dist="25400" dir="2700000" algn="bl" rotWithShape="0">
              <a:srgbClr val="000000">
                <a:alpha val="10000"/>
              </a:srgbClr>
            </a:outerShdw>
          </a:effectLst>
        </p:spPr>
        <p:txBody>
          <a:bodyPr/>
          <a:lstStyle/>
          <a:p>
            <a:endParaRPr lang="en-US"/>
          </a:p>
        </p:txBody>
      </p:sp>
      <p:sp>
        <p:nvSpPr>
          <p:cNvPr id="56" name="Text 54"/>
          <p:cNvSpPr/>
          <p:nvPr/>
        </p:nvSpPr>
        <p:spPr>
          <a:xfrm>
            <a:off x="3950208" y="3694176"/>
            <a:ext cx="1554480" cy="47548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createIssue()</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addToProject()</a:t>
            </a:r>
            <a:endParaRPr lang="en-US" sz="850" dirty="0"/>
          </a:p>
        </p:txBody>
      </p:sp>
      <p:sp>
        <p:nvSpPr>
          <p:cNvPr id="57" name="Shape 55"/>
          <p:cNvSpPr/>
          <p:nvPr/>
        </p:nvSpPr>
        <p:spPr>
          <a:xfrm>
            <a:off x="5596128" y="3931920"/>
            <a:ext cx="91440" cy="0"/>
          </a:xfrm>
          <a:prstGeom prst="line">
            <a:avLst/>
          </a:prstGeom>
          <a:noFill/>
          <a:ln w="19050">
            <a:solidFill>
              <a:srgbClr val="C2410C"/>
            </a:solidFill>
            <a:prstDash val="solid"/>
            <a:tailEnd type="arrow"/>
          </a:ln>
        </p:spPr>
        <p:txBody>
          <a:bodyPr/>
          <a:lstStyle/>
          <a:p>
            <a:endParaRPr lang="en-US"/>
          </a:p>
        </p:txBody>
      </p:sp>
      <p:sp>
        <p:nvSpPr>
          <p:cNvPr id="58" name="Shape 56"/>
          <p:cNvSpPr/>
          <p:nvPr/>
        </p:nvSpPr>
        <p:spPr>
          <a:xfrm>
            <a:off x="5779008" y="3694176"/>
            <a:ext cx="1554480" cy="475488"/>
          </a:xfrm>
          <a:prstGeom prst="roundRect">
            <a:avLst>
              <a:gd name="adj" fmla="val 15385"/>
            </a:avLst>
          </a:prstGeom>
          <a:solidFill>
            <a:srgbClr val="C2410C"/>
          </a:solidFill>
          <a:ln/>
          <a:effectLst>
            <a:outerShdw blurRad="63500" dist="25400" dir="2700000" algn="bl" rotWithShape="0">
              <a:srgbClr val="000000">
                <a:alpha val="10000"/>
              </a:srgbClr>
            </a:outerShdw>
          </a:effectLst>
        </p:spPr>
        <p:txBody>
          <a:bodyPr/>
          <a:lstStyle/>
          <a:p>
            <a:endParaRPr lang="en-US"/>
          </a:p>
        </p:txBody>
      </p:sp>
      <p:sp>
        <p:nvSpPr>
          <p:cNvPr id="59" name="Text 57"/>
          <p:cNvSpPr/>
          <p:nvPr/>
        </p:nvSpPr>
        <p:spPr>
          <a:xfrm>
            <a:off x="5779008" y="3694176"/>
            <a:ext cx="1554480" cy="47548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create_issue</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add_item</a:t>
            </a:r>
            <a:endParaRPr lang="en-US" sz="850" dirty="0"/>
          </a:p>
        </p:txBody>
      </p:sp>
      <p:sp>
        <p:nvSpPr>
          <p:cNvPr id="60" name="Shape 58"/>
          <p:cNvSpPr/>
          <p:nvPr/>
        </p:nvSpPr>
        <p:spPr>
          <a:xfrm>
            <a:off x="7424928" y="3931920"/>
            <a:ext cx="91440" cy="0"/>
          </a:xfrm>
          <a:prstGeom prst="line">
            <a:avLst/>
          </a:prstGeom>
          <a:noFill/>
          <a:ln w="19050">
            <a:solidFill>
              <a:srgbClr val="C2410C"/>
            </a:solidFill>
            <a:prstDash val="solid"/>
            <a:tailEnd type="arrow"/>
          </a:ln>
        </p:spPr>
        <p:txBody>
          <a:bodyPr/>
          <a:lstStyle/>
          <a:p>
            <a:endParaRPr lang="en-US"/>
          </a:p>
        </p:txBody>
      </p:sp>
      <p:sp>
        <p:nvSpPr>
          <p:cNvPr id="61" name="Shape 59"/>
          <p:cNvSpPr/>
          <p:nvPr/>
        </p:nvSpPr>
        <p:spPr>
          <a:xfrm>
            <a:off x="7607808" y="3694176"/>
            <a:ext cx="1554480" cy="475488"/>
          </a:xfrm>
          <a:prstGeom prst="roundRect">
            <a:avLst>
              <a:gd name="adj" fmla="val 15385"/>
            </a:avLst>
          </a:prstGeom>
          <a:solidFill>
            <a:srgbClr val="374151"/>
          </a:solidFill>
          <a:ln/>
          <a:effectLst>
            <a:outerShdw blurRad="63500" dist="25400" dir="2700000" algn="bl" rotWithShape="0">
              <a:srgbClr val="000000">
                <a:alpha val="10000"/>
              </a:srgbClr>
            </a:outerShdw>
          </a:effectLst>
        </p:spPr>
        <p:txBody>
          <a:bodyPr/>
          <a:lstStyle/>
          <a:p>
            <a:endParaRPr lang="en-US"/>
          </a:p>
        </p:txBody>
      </p:sp>
      <p:sp>
        <p:nvSpPr>
          <p:cNvPr id="62" name="Text 60"/>
          <p:cNvSpPr/>
          <p:nvPr/>
        </p:nvSpPr>
        <p:spPr>
          <a:xfrm>
            <a:off x="7607808" y="3694176"/>
            <a:ext cx="1554480" cy="47548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Issues +</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Board cards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Where AI is Used ★</a:t>
            </a:r>
            <a:endParaRPr lang="en-US" sz="3000" dirty="0"/>
          </a:p>
        </p:txBody>
      </p:sp>
      <p:sp>
        <p:nvSpPr>
          <p:cNvPr id="3" name="Text 1"/>
          <p:cNvSpPr/>
          <p:nvPr/>
        </p:nvSpPr>
        <p:spPr>
          <a:xfrm>
            <a:off x="457200" y="804672"/>
            <a:ext cx="8229600" cy="310896"/>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All AI calls route through AiModule  →  claude-sonnet-4-6 via Anthropic API</a:t>
            </a:r>
            <a:endParaRPr lang="en-US" sz="1300" dirty="0"/>
          </a:p>
        </p:txBody>
      </p:sp>
      <p:sp>
        <p:nvSpPr>
          <p:cNvPr id="4" name="Shape 2"/>
          <p:cNvSpPr/>
          <p:nvPr/>
        </p:nvSpPr>
        <p:spPr>
          <a:xfrm>
            <a:off x="457200" y="1261872"/>
            <a:ext cx="3931920" cy="1536192"/>
          </a:xfrm>
          <a:prstGeom prst="roundRect">
            <a:avLst>
              <a:gd name="adj" fmla="val 8333"/>
            </a:avLst>
          </a:prstGeom>
          <a:solidFill>
            <a:srgbClr val="FFFFFF">
              <a:alpha val="8000"/>
            </a:srgbClr>
          </a:solidFill>
          <a:ln w="19050">
            <a:solidFill>
              <a:srgbClr val="D97706"/>
            </a:solidFill>
            <a:prstDash val="solid"/>
          </a:ln>
        </p:spPr>
        <p:txBody>
          <a:bodyPr/>
          <a:lstStyle/>
          <a:p>
            <a:endParaRPr lang="en-US"/>
          </a:p>
        </p:txBody>
      </p:sp>
      <p:sp>
        <p:nvSpPr>
          <p:cNvPr id="5" name="Shape 3"/>
          <p:cNvSpPr/>
          <p:nvPr/>
        </p:nvSpPr>
        <p:spPr>
          <a:xfrm>
            <a:off x="594360" y="1399032"/>
            <a:ext cx="384048" cy="310896"/>
          </a:xfrm>
          <a:prstGeom prst="roundRect">
            <a:avLst>
              <a:gd name="adj" fmla="val 17647"/>
            </a:avLst>
          </a:prstGeom>
          <a:solidFill>
            <a:srgbClr val="D97706"/>
          </a:solidFill>
          <a:ln/>
        </p:spPr>
        <p:txBody>
          <a:bodyPr/>
          <a:lstStyle/>
          <a:p>
            <a:endParaRPr lang="en-US"/>
          </a:p>
        </p:txBody>
      </p:sp>
      <p:sp>
        <p:nvSpPr>
          <p:cNvPr id="6" name="Text 4"/>
          <p:cNvSpPr/>
          <p:nvPr/>
        </p:nvSpPr>
        <p:spPr>
          <a:xfrm>
            <a:off x="594360" y="1399032"/>
            <a:ext cx="384048"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7" name="Text 5"/>
          <p:cNvSpPr/>
          <p:nvPr/>
        </p:nvSpPr>
        <p:spPr>
          <a:xfrm>
            <a:off x="1051560" y="1399032"/>
            <a:ext cx="3200400" cy="310896"/>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Requirements Summary</a:t>
            </a:r>
            <a:endParaRPr lang="en-US" sz="1300" dirty="0"/>
          </a:p>
        </p:txBody>
      </p:sp>
      <p:sp>
        <p:nvSpPr>
          <p:cNvPr id="8" name="Text 6"/>
          <p:cNvSpPr/>
          <p:nvPr/>
        </p:nvSpPr>
        <p:spPr>
          <a:xfrm>
            <a:off x="594360" y="1792224"/>
            <a:ext cx="3657600" cy="749808"/>
          </a:xfrm>
          <a:prstGeom prst="rect">
            <a:avLst/>
          </a:prstGeom>
          <a:noFill/>
          <a:ln/>
        </p:spPr>
        <p:txBody>
          <a:bodyPr wrap="square" rtlCol="0" anchor="ctr"/>
          <a:lstStyle/>
          <a:p>
            <a:pPr marL="0" indent="0">
              <a:buNone/>
            </a:pPr>
            <a:r>
              <a:rPr lang="en-US" sz="950" b="1" dirty="0">
                <a:solidFill>
                  <a:srgbClr val="CADCFC"/>
                </a:solidFill>
                <a:latin typeface="Calibri" pitchFamily="34" charset="0"/>
                <a:ea typeface="Calibri" pitchFamily="34" charset="-122"/>
                <a:cs typeface="Calibri" pitchFamily="34" charset="-120"/>
              </a:rPr>
              <a:t>Trigger: </a:t>
            </a:r>
            <a:r>
              <a:rPr lang="en-US" sz="950" dirty="0">
                <a:solidFill>
                  <a:srgbClr val="CADCFC"/>
                </a:solidFill>
                <a:latin typeface="Calibri" pitchFamily="34" charset="0"/>
                <a:ea typeface="Calibri" pitchFamily="34" charset="-122"/>
                <a:cs typeface="Calibri" pitchFamily="34" charset="-120"/>
              </a:rPr>
              <a:t>POST /api/analyse
</a:t>
            </a:r>
            <a:r>
              <a:rPr lang="en-US" sz="950" b="1" dirty="0">
                <a:solidFill>
                  <a:srgbClr val="CADCFC"/>
                </a:solidFill>
                <a:latin typeface="Calibri" pitchFamily="34" charset="0"/>
                <a:ea typeface="Calibri" pitchFamily="34" charset="-122"/>
                <a:cs typeface="Calibri" pitchFamily="34" charset="-120"/>
              </a:rPr>
              <a:t>Module: </a:t>
            </a:r>
            <a:r>
              <a:rPr lang="en-US" sz="950" dirty="0">
                <a:solidFill>
                  <a:srgbClr val="CADCFC"/>
                </a:solidFill>
                <a:latin typeface="Calibri" pitchFamily="34" charset="0"/>
                <a:ea typeface="Calibri" pitchFamily="34" charset="-122"/>
                <a:cs typeface="Calibri" pitchFamily="34" charset="-120"/>
              </a:rPr>
              <a:t>AnalyseService → AiService
</a:t>
            </a:r>
            <a:r>
              <a:rPr lang="en-US" sz="950" b="1" dirty="0">
                <a:solidFill>
                  <a:srgbClr val="A3E8B0"/>
                </a:solidFill>
                <a:latin typeface="Calibri" pitchFamily="34" charset="0"/>
                <a:ea typeface="Calibri" pitchFamily="34" charset="-122"/>
                <a:cs typeface="Calibri" pitchFamily="34" charset="-120"/>
              </a:rPr>
              <a:t>Output: </a:t>
            </a:r>
            <a:r>
              <a:rPr lang="en-US" sz="950" dirty="0">
                <a:solidFill>
                  <a:srgbClr val="A3E8B0"/>
                </a:solidFill>
                <a:latin typeface="Calibri" pitchFamily="34" charset="0"/>
                <a:ea typeface="Calibri" pitchFamily="34" charset="-122"/>
                <a:cs typeface="Calibri" pitchFamily="34" charset="-120"/>
              </a:rPr>
              <a:t>KeyRequirementsSummary JSON</a:t>
            </a:r>
            <a:endParaRPr lang="en-US" sz="950" dirty="0"/>
          </a:p>
        </p:txBody>
      </p:sp>
      <p:sp>
        <p:nvSpPr>
          <p:cNvPr id="9" name="Text 7"/>
          <p:cNvSpPr/>
          <p:nvPr/>
        </p:nvSpPr>
        <p:spPr>
          <a:xfrm>
            <a:off x="594360" y="2487168"/>
            <a:ext cx="3657600" cy="256032"/>
          </a:xfrm>
          <a:prstGeom prst="rect">
            <a:avLst/>
          </a:prstGeom>
          <a:noFill/>
          <a:ln/>
        </p:spPr>
        <p:txBody>
          <a:bodyPr wrap="square" rtlCol="0" anchor="ctr"/>
          <a:lstStyle/>
          <a:p>
            <a:pPr marL="0" indent="0">
              <a:buNone/>
            </a:pPr>
            <a:r>
              <a:rPr lang="en-US" sz="850" i="1" dirty="0">
                <a:solidFill>
                  <a:srgbClr val="8FB0E0"/>
                </a:solidFill>
                <a:latin typeface="Calibri" pitchFamily="34" charset="0"/>
                <a:ea typeface="Calibri" pitchFamily="34" charset="-122"/>
                <a:cs typeface="Calibri" pitchFamily="34" charset="-120"/>
              </a:rPr>
              <a:t>ⓘ First call — runs before story generation</a:t>
            </a:r>
            <a:endParaRPr lang="en-US" sz="850" dirty="0"/>
          </a:p>
        </p:txBody>
      </p:sp>
      <p:sp>
        <p:nvSpPr>
          <p:cNvPr id="10" name="Shape 8"/>
          <p:cNvSpPr/>
          <p:nvPr/>
        </p:nvSpPr>
        <p:spPr>
          <a:xfrm>
            <a:off x="4663440" y="1261872"/>
            <a:ext cx="3931920" cy="1536192"/>
          </a:xfrm>
          <a:prstGeom prst="roundRect">
            <a:avLst>
              <a:gd name="adj" fmla="val 8333"/>
            </a:avLst>
          </a:prstGeom>
          <a:solidFill>
            <a:srgbClr val="FFFFFF">
              <a:alpha val="8000"/>
            </a:srgbClr>
          </a:solidFill>
          <a:ln w="19050">
            <a:solidFill>
              <a:srgbClr val="D97706"/>
            </a:solidFill>
            <a:prstDash val="solid"/>
          </a:ln>
        </p:spPr>
        <p:txBody>
          <a:bodyPr/>
          <a:lstStyle/>
          <a:p>
            <a:endParaRPr lang="en-US"/>
          </a:p>
        </p:txBody>
      </p:sp>
      <p:sp>
        <p:nvSpPr>
          <p:cNvPr id="11" name="Shape 9"/>
          <p:cNvSpPr/>
          <p:nvPr/>
        </p:nvSpPr>
        <p:spPr>
          <a:xfrm>
            <a:off x="4800600" y="1399032"/>
            <a:ext cx="384048" cy="310896"/>
          </a:xfrm>
          <a:prstGeom prst="roundRect">
            <a:avLst>
              <a:gd name="adj" fmla="val 17647"/>
            </a:avLst>
          </a:prstGeom>
          <a:solidFill>
            <a:srgbClr val="D97706"/>
          </a:solidFill>
          <a:ln/>
        </p:spPr>
        <p:txBody>
          <a:bodyPr/>
          <a:lstStyle/>
          <a:p>
            <a:endParaRPr lang="en-US"/>
          </a:p>
        </p:txBody>
      </p:sp>
      <p:sp>
        <p:nvSpPr>
          <p:cNvPr id="12" name="Text 10"/>
          <p:cNvSpPr/>
          <p:nvPr/>
        </p:nvSpPr>
        <p:spPr>
          <a:xfrm>
            <a:off x="4800600" y="1399032"/>
            <a:ext cx="384048"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3" name="Text 11"/>
          <p:cNvSpPr/>
          <p:nvPr/>
        </p:nvSpPr>
        <p:spPr>
          <a:xfrm>
            <a:off x="5257800" y="1399032"/>
            <a:ext cx="3200400" cy="310896"/>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Story Generation</a:t>
            </a:r>
            <a:endParaRPr lang="en-US" sz="1300" dirty="0"/>
          </a:p>
        </p:txBody>
      </p:sp>
      <p:sp>
        <p:nvSpPr>
          <p:cNvPr id="14" name="Text 12"/>
          <p:cNvSpPr/>
          <p:nvPr/>
        </p:nvSpPr>
        <p:spPr>
          <a:xfrm>
            <a:off x="4800600" y="1792224"/>
            <a:ext cx="3657600" cy="749808"/>
          </a:xfrm>
          <a:prstGeom prst="rect">
            <a:avLst/>
          </a:prstGeom>
          <a:noFill/>
          <a:ln/>
        </p:spPr>
        <p:txBody>
          <a:bodyPr wrap="square" rtlCol="0" anchor="ctr"/>
          <a:lstStyle/>
          <a:p>
            <a:pPr marL="0" indent="0">
              <a:buNone/>
            </a:pPr>
            <a:r>
              <a:rPr lang="en-US" sz="950" b="1" dirty="0">
                <a:solidFill>
                  <a:srgbClr val="CADCFC"/>
                </a:solidFill>
                <a:latin typeface="Calibri" pitchFamily="34" charset="0"/>
                <a:ea typeface="Calibri" pitchFamily="34" charset="-122"/>
                <a:cs typeface="Calibri" pitchFamily="34" charset="-120"/>
              </a:rPr>
              <a:t>Trigger: </a:t>
            </a:r>
            <a:r>
              <a:rPr lang="en-US" sz="950" dirty="0">
                <a:solidFill>
                  <a:srgbClr val="CADCFC"/>
                </a:solidFill>
                <a:latin typeface="Calibri" pitchFamily="34" charset="0"/>
                <a:ea typeface="Calibri" pitchFamily="34" charset="-122"/>
                <a:cs typeface="Calibri" pitchFamily="34" charset="-120"/>
              </a:rPr>
              <a:t>Immediately after summary
</a:t>
            </a:r>
            <a:r>
              <a:rPr lang="en-US" sz="950" b="1" dirty="0">
                <a:solidFill>
                  <a:srgbClr val="CADCFC"/>
                </a:solidFill>
                <a:latin typeface="Calibri" pitchFamily="34" charset="0"/>
                <a:ea typeface="Calibri" pitchFamily="34" charset="-122"/>
                <a:cs typeface="Calibri" pitchFamily="34" charset="-120"/>
              </a:rPr>
              <a:t>Module: </a:t>
            </a:r>
            <a:r>
              <a:rPr lang="en-US" sz="950" dirty="0">
                <a:solidFill>
                  <a:srgbClr val="CADCFC"/>
                </a:solidFill>
                <a:latin typeface="Calibri" pitchFamily="34" charset="0"/>
                <a:ea typeface="Calibri" pitchFamily="34" charset="-122"/>
                <a:cs typeface="Calibri" pitchFamily="34" charset="-120"/>
              </a:rPr>
              <a:t>AnalyseService → AiService
</a:t>
            </a:r>
            <a:r>
              <a:rPr lang="en-US" sz="950" b="1" dirty="0">
                <a:solidFill>
                  <a:srgbClr val="A3E8B0"/>
                </a:solidFill>
                <a:latin typeface="Calibri" pitchFamily="34" charset="0"/>
                <a:ea typeface="Calibri" pitchFamily="34" charset="-122"/>
                <a:cs typeface="Calibri" pitchFamily="34" charset="-120"/>
              </a:rPr>
              <a:t>Output: </a:t>
            </a:r>
            <a:r>
              <a:rPr lang="en-US" sz="950" dirty="0">
                <a:solidFill>
                  <a:srgbClr val="A3E8B0"/>
                </a:solidFill>
                <a:latin typeface="Calibri" pitchFamily="34" charset="0"/>
                <a:ea typeface="Calibri" pitchFamily="34" charset="-122"/>
                <a:cs typeface="Calibri" pitchFamily="34" charset="-120"/>
              </a:rPr>
              <a:t>UserStory[] — streamed via SSE</a:t>
            </a:r>
            <a:endParaRPr lang="en-US" sz="950" dirty="0"/>
          </a:p>
        </p:txBody>
      </p:sp>
      <p:sp>
        <p:nvSpPr>
          <p:cNvPr id="15" name="Text 13"/>
          <p:cNvSpPr/>
          <p:nvPr/>
        </p:nvSpPr>
        <p:spPr>
          <a:xfrm>
            <a:off x="4800600" y="2487168"/>
            <a:ext cx="3657600" cy="256032"/>
          </a:xfrm>
          <a:prstGeom prst="rect">
            <a:avLst/>
          </a:prstGeom>
          <a:noFill/>
          <a:ln/>
        </p:spPr>
        <p:txBody>
          <a:bodyPr wrap="square" rtlCol="0" anchor="ctr"/>
          <a:lstStyle/>
          <a:p>
            <a:pPr marL="0" indent="0">
              <a:buNone/>
            </a:pPr>
            <a:r>
              <a:rPr lang="en-US" sz="850" i="1" dirty="0">
                <a:solidFill>
                  <a:srgbClr val="8FB0E0"/>
                </a:solidFill>
                <a:latin typeface="Calibri" pitchFamily="34" charset="0"/>
                <a:ea typeface="Calibri" pitchFamily="34" charset="-122"/>
                <a:cs typeface="Calibri" pitchFamily="34" charset="-120"/>
              </a:rPr>
              <a:t>ⓘ Stories appear in UI one by one as they stream</a:t>
            </a:r>
            <a:endParaRPr lang="en-US" sz="850" dirty="0"/>
          </a:p>
        </p:txBody>
      </p:sp>
      <p:sp>
        <p:nvSpPr>
          <p:cNvPr id="16" name="Shape 14"/>
          <p:cNvSpPr/>
          <p:nvPr/>
        </p:nvSpPr>
        <p:spPr>
          <a:xfrm>
            <a:off x="457200" y="3072384"/>
            <a:ext cx="3931920" cy="1536192"/>
          </a:xfrm>
          <a:prstGeom prst="roundRect">
            <a:avLst>
              <a:gd name="adj" fmla="val 8333"/>
            </a:avLst>
          </a:prstGeom>
          <a:solidFill>
            <a:srgbClr val="FFFFFF">
              <a:alpha val="8000"/>
            </a:srgbClr>
          </a:solidFill>
          <a:ln w="19050">
            <a:solidFill>
              <a:srgbClr val="D97706"/>
            </a:solidFill>
            <a:prstDash val="solid"/>
          </a:ln>
        </p:spPr>
        <p:txBody>
          <a:bodyPr/>
          <a:lstStyle/>
          <a:p>
            <a:endParaRPr lang="en-US"/>
          </a:p>
        </p:txBody>
      </p:sp>
      <p:sp>
        <p:nvSpPr>
          <p:cNvPr id="17" name="Shape 15"/>
          <p:cNvSpPr/>
          <p:nvPr/>
        </p:nvSpPr>
        <p:spPr>
          <a:xfrm>
            <a:off x="594360" y="3209544"/>
            <a:ext cx="384048" cy="310896"/>
          </a:xfrm>
          <a:prstGeom prst="roundRect">
            <a:avLst>
              <a:gd name="adj" fmla="val 17647"/>
            </a:avLst>
          </a:prstGeom>
          <a:solidFill>
            <a:srgbClr val="D97706"/>
          </a:solidFill>
          <a:ln/>
        </p:spPr>
        <p:txBody>
          <a:bodyPr/>
          <a:lstStyle/>
          <a:p>
            <a:endParaRPr lang="en-US"/>
          </a:p>
        </p:txBody>
      </p:sp>
      <p:sp>
        <p:nvSpPr>
          <p:cNvPr id="18" name="Text 16"/>
          <p:cNvSpPr/>
          <p:nvPr/>
        </p:nvSpPr>
        <p:spPr>
          <a:xfrm>
            <a:off x="594360" y="3209544"/>
            <a:ext cx="384048"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9" name="Text 17"/>
          <p:cNvSpPr/>
          <p:nvPr/>
        </p:nvSpPr>
        <p:spPr>
          <a:xfrm>
            <a:off x="1051560" y="3209544"/>
            <a:ext cx="3200400" cy="310896"/>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Task Breakdown</a:t>
            </a:r>
            <a:endParaRPr lang="en-US" sz="1300" dirty="0"/>
          </a:p>
        </p:txBody>
      </p:sp>
      <p:sp>
        <p:nvSpPr>
          <p:cNvPr id="20" name="Text 18"/>
          <p:cNvSpPr/>
          <p:nvPr/>
        </p:nvSpPr>
        <p:spPr>
          <a:xfrm>
            <a:off x="594360" y="3602736"/>
            <a:ext cx="3657600" cy="749808"/>
          </a:xfrm>
          <a:prstGeom prst="rect">
            <a:avLst/>
          </a:prstGeom>
          <a:noFill/>
          <a:ln/>
        </p:spPr>
        <p:txBody>
          <a:bodyPr wrap="square" rtlCol="0" anchor="ctr"/>
          <a:lstStyle/>
          <a:p>
            <a:pPr marL="0" indent="0">
              <a:buNone/>
            </a:pPr>
            <a:r>
              <a:rPr lang="en-US" sz="950" b="1" dirty="0">
                <a:solidFill>
                  <a:srgbClr val="CADCFC"/>
                </a:solidFill>
                <a:latin typeface="Calibri" pitchFamily="34" charset="0"/>
                <a:ea typeface="Calibri" pitchFamily="34" charset="-122"/>
                <a:cs typeface="Calibri" pitchFamily="34" charset="-120"/>
              </a:rPr>
              <a:t>Trigger: </a:t>
            </a:r>
            <a:r>
              <a:rPr lang="en-US" sz="950" dirty="0">
                <a:solidFill>
                  <a:srgbClr val="CADCFC"/>
                </a:solidFill>
                <a:latin typeface="Calibri" pitchFamily="34" charset="0"/>
                <a:ea typeface="Calibri" pitchFamily="34" charset="-122"/>
                <a:cs typeface="Calibri" pitchFamily="34" charset="-120"/>
              </a:rPr>
              <a:t>POST /api/analyse/tasks
</a:t>
            </a:r>
            <a:r>
              <a:rPr lang="en-US" sz="950" b="1" dirty="0">
                <a:solidFill>
                  <a:srgbClr val="CADCFC"/>
                </a:solidFill>
                <a:latin typeface="Calibri" pitchFamily="34" charset="0"/>
                <a:ea typeface="Calibri" pitchFamily="34" charset="-122"/>
                <a:cs typeface="Calibri" pitchFamily="34" charset="-120"/>
              </a:rPr>
              <a:t>Module: </a:t>
            </a:r>
            <a:r>
              <a:rPr lang="en-US" sz="950" dirty="0">
                <a:solidFill>
                  <a:srgbClr val="CADCFC"/>
                </a:solidFill>
                <a:latin typeface="Calibri" pitchFamily="34" charset="0"/>
                <a:ea typeface="Calibri" pitchFamily="34" charset="-122"/>
                <a:cs typeface="Calibri" pitchFamily="34" charset="-120"/>
              </a:rPr>
              <a:t>AnalyseService → AiService
</a:t>
            </a:r>
            <a:r>
              <a:rPr lang="en-US" sz="950" b="1" dirty="0">
                <a:solidFill>
                  <a:srgbClr val="A3E8B0"/>
                </a:solidFill>
                <a:latin typeface="Calibri" pitchFamily="34" charset="0"/>
                <a:ea typeface="Calibri" pitchFamily="34" charset="-122"/>
                <a:cs typeface="Calibri" pitchFamily="34" charset="-120"/>
              </a:rPr>
              <a:t>Output: </a:t>
            </a:r>
            <a:r>
              <a:rPr lang="en-US" sz="950" dirty="0">
                <a:solidFill>
                  <a:srgbClr val="A3E8B0"/>
                </a:solidFill>
                <a:latin typeface="Calibri" pitchFamily="34" charset="0"/>
                <a:ea typeface="Calibri" pitchFamily="34" charset="-122"/>
                <a:cs typeface="Calibri" pitchFamily="34" charset="-120"/>
              </a:rPr>
              <a:t>Task[] JSON — per story, on-demand</a:t>
            </a:r>
            <a:endParaRPr lang="en-US" sz="950" dirty="0"/>
          </a:p>
        </p:txBody>
      </p:sp>
      <p:sp>
        <p:nvSpPr>
          <p:cNvPr id="21" name="Text 19"/>
          <p:cNvSpPr/>
          <p:nvPr/>
        </p:nvSpPr>
        <p:spPr>
          <a:xfrm>
            <a:off x="594360" y="4297680"/>
            <a:ext cx="3657600" cy="256032"/>
          </a:xfrm>
          <a:prstGeom prst="rect">
            <a:avLst/>
          </a:prstGeom>
          <a:noFill/>
          <a:ln/>
        </p:spPr>
        <p:txBody>
          <a:bodyPr wrap="square" rtlCol="0" anchor="ctr"/>
          <a:lstStyle/>
          <a:p>
            <a:pPr marL="0" indent="0">
              <a:buNone/>
            </a:pPr>
            <a:r>
              <a:rPr lang="en-US" sz="850" i="1" dirty="0">
                <a:solidFill>
                  <a:srgbClr val="8FB0E0"/>
                </a:solidFill>
                <a:latin typeface="Calibri" pitchFamily="34" charset="0"/>
                <a:ea typeface="Calibri" pitchFamily="34" charset="-122"/>
                <a:cs typeface="Calibri" pitchFamily="34" charset="-120"/>
              </a:rPr>
              <a:t>ⓘ Reviewer triggers per story when ready</a:t>
            </a:r>
            <a:endParaRPr lang="en-US" sz="850" dirty="0"/>
          </a:p>
        </p:txBody>
      </p:sp>
      <p:sp>
        <p:nvSpPr>
          <p:cNvPr id="22" name="Shape 20"/>
          <p:cNvSpPr/>
          <p:nvPr/>
        </p:nvSpPr>
        <p:spPr>
          <a:xfrm>
            <a:off x="4663440" y="3072384"/>
            <a:ext cx="3931920" cy="1536192"/>
          </a:xfrm>
          <a:prstGeom prst="roundRect">
            <a:avLst>
              <a:gd name="adj" fmla="val 8333"/>
            </a:avLst>
          </a:prstGeom>
          <a:solidFill>
            <a:srgbClr val="FFFFFF">
              <a:alpha val="8000"/>
            </a:srgbClr>
          </a:solidFill>
          <a:ln w="19050">
            <a:solidFill>
              <a:srgbClr val="D97706"/>
            </a:solidFill>
            <a:prstDash val="solid"/>
          </a:ln>
        </p:spPr>
        <p:txBody>
          <a:bodyPr/>
          <a:lstStyle/>
          <a:p>
            <a:endParaRPr lang="en-US"/>
          </a:p>
        </p:txBody>
      </p:sp>
      <p:sp>
        <p:nvSpPr>
          <p:cNvPr id="23" name="Shape 21"/>
          <p:cNvSpPr/>
          <p:nvPr/>
        </p:nvSpPr>
        <p:spPr>
          <a:xfrm>
            <a:off x="4800600" y="3209544"/>
            <a:ext cx="384048" cy="310896"/>
          </a:xfrm>
          <a:prstGeom prst="roundRect">
            <a:avLst>
              <a:gd name="adj" fmla="val 17647"/>
            </a:avLst>
          </a:prstGeom>
          <a:solidFill>
            <a:srgbClr val="D97706"/>
          </a:solidFill>
          <a:ln/>
        </p:spPr>
        <p:txBody>
          <a:bodyPr/>
          <a:lstStyle/>
          <a:p>
            <a:endParaRPr lang="en-US"/>
          </a:p>
        </p:txBody>
      </p:sp>
      <p:sp>
        <p:nvSpPr>
          <p:cNvPr id="24" name="Text 22"/>
          <p:cNvSpPr/>
          <p:nvPr/>
        </p:nvSpPr>
        <p:spPr>
          <a:xfrm>
            <a:off x="4800600" y="3209544"/>
            <a:ext cx="384048"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5" name="Text 23"/>
          <p:cNvSpPr/>
          <p:nvPr/>
        </p:nvSpPr>
        <p:spPr>
          <a:xfrm>
            <a:off x="5257800" y="3209544"/>
            <a:ext cx="3200400" cy="310896"/>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Story Regeneration</a:t>
            </a:r>
            <a:endParaRPr lang="en-US" sz="1300" dirty="0"/>
          </a:p>
        </p:txBody>
      </p:sp>
      <p:sp>
        <p:nvSpPr>
          <p:cNvPr id="26" name="Text 24"/>
          <p:cNvSpPr/>
          <p:nvPr/>
        </p:nvSpPr>
        <p:spPr>
          <a:xfrm>
            <a:off x="4800600" y="3602736"/>
            <a:ext cx="3657600" cy="749808"/>
          </a:xfrm>
          <a:prstGeom prst="rect">
            <a:avLst/>
          </a:prstGeom>
          <a:noFill/>
          <a:ln/>
        </p:spPr>
        <p:txBody>
          <a:bodyPr wrap="square" rtlCol="0" anchor="ctr"/>
          <a:lstStyle/>
          <a:p>
            <a:pPr marL="0" indent="0">
              <a:buNone/>
            </a:pPr>
            <a:r>
              <a:rPr lang="en-US" sz="950" b="1" dirty="0">
                <a:solidFill>
                  <a:srgbClr val="CADCFC"/>
                </a:solidFill>
                <a:latin typeface="Calibri" pitchFamily="34" charset="0"/>
                <a:ea typeface="Calibri" pitchFamily="34" charset="-122"/>
                <a:cs typeface="Calibri" pitchFamily="34" charset="-120"/>
              </a:rPr>
              <a:t>Trigger: </a:t>
            </a:r>
            <a:r>
              <a:rPr lang="en-US" sz="950" dirty="0">
                <a:solidFill>
                  <a:srgbClr val="CADCFC"/>
                </a:solidFill>
                <a:latin typeface="Calibri" pitchFamily="34" charset="0"/>
                <a:ea typeface="Calibri" pitchFamily="34" charset="-122"/>
                <a:cs typeface="Calibri" pitchFamily="34" charset="-120"/>
              </a:rPr>
              <a:t>POST /api/regenerate
</a:t>
            </a:r>
            <a:r>
              <a:rPr lang="en-US" sz="950" b="1" dirty="0">
                <a:solidFill>
                  <a:srgbClr val="CADCFC"/>
                </a:solidFill>
                <a:latin typeface="Calibri" pitchFamily="34" charset="0"/>
                <a:ea typeface="Calibri" pitchFamily="34" charset="-122"/>
                <a:cs typeface="Calibri" pitchFamily="34" charset="-120"/>
              </a:rPr>
              <a:t>Module: </a:t>
            </a:r>
            <a:r>
              <a:rPr lang="en-US" sz="950" dirty="0">
                <a:solidFill>
                  <a:srgbClr val="CADCFC"/>
                </a:solidFill>
                <a:latin typeface="Calibri" pitchFamily="34" charset="0"/>
                <a:ea typeface="Calibri" pitchFamily="34" charset="-122"/>
                <a:cs typeface="Calibri" pitchFamily="34" charset="-120"/>
              </a:rPr>
              <a:t>RegenerateService → AiService
</a:t>
            </a:r>
            <a:r>
              <a:rPr lang="en-US" sz="950" b="1" dirty="0">
                <a:solidFill>
                  <a:srgbClr val="A3E8B0"/>
                </a:solidFill>
                <a:latin typeface="Calibri" pitchFamily="34" charset="0"/>
                <a:ea typeface="Calibri" pitchFamily="34" charset="-122"/>
                <a:cs typeface="Calibri" pitchFamily="34" charset="-120"/>
              </a:rPr>
              <a:t>Output: </a:t>
            </a:r>
            <a:r>
              <a:rPr lang="en-US" sz="950" dirty="0">
                <a:solidFill>
                  <a:srgbClr val="A3E8B0"/>
                </a:solidFill>
                <a:latin typeface="Calibri" pitchFamily="34" charset="0"/>
                <a:ea typeface="Calibri" pitchFamily="34" charset="-122"/>
                <a:cs typeface="Calibri" pitchFamily="34" charset="-120"/>
              </a:rPr>
              <a:t>Revised UserStory — streamed via SSE</a:t>
            </a:r>
            <a:endParaRPr lang="en-US" sz="950" dirty="0"/>
          </a:p>
        </p:txBody>
      </p:sp>
      <p:sp>
        <p:nvSpPr>
          <p:cNvPr id="27" name="Text 25"/>
          <p:cNvSpPr/>
          <p:nvPr/>
        </p:nvSpPr>
        <p:spPr>
          <a:xfrm>
            <a:off x="4800600" y="4297680"/>
            <a:ext cx="3657600" cy="256032"/>
          </a:xfrm>
          <a:prstGeom prst="rect">
            <a:avLst/>
          </a:prstGeom>
          <a:noFill/>
          <a:ln/>
        </p:spPr>
        <p:txBody>
          <a:bodyPr wrap="square" rtlCol="0" anchor="ctr"/>
          <a:lstStyle/>
          <a:p>
            <a:pPr marL="0" indent="0">
              <a:buNone/>
            </a:pPr>
            <a:r>
              <a:rPr lang="en-US" sz="850" i="1" dirty="0">
                <a:solidFill>
                  <a:srgbClr val="8FB0E0"/>
                </a:solidFill>
                <a:latin typeface="Calibri" pitchFamily="34" charset="0"/>
                <a:ea typeface="Calibri" pitchFamily="34" charset="-122"/>
                <a:cs typeface="Calibri" pitchFamily="34" charset="-120"/>
              </a:rPr>
              <a:t>ⓘ Triggered by reviewer feedback on a story</a:t>
            </a:r>
            <a:endParaRPr lang="en-US" sz="850" dirty="0"/>
          </a:p>
        </p:txBody>
      </p:sp>
      <p:sp>
        <p:nvSpPr>
          <p:cNvPr id="28" name="Shape 26"/>
          <p:cNvSpPr/>
          <p:nvPr/>
        </p:nvSpPr>
        <p:spPr>
          <a:xfrm>
            <a:off x="457200" y="4572000"/>
            <a:ext cx="8229600" cy="384048"/>
          </a:xfrm>
          <a:prstGeom prst="roundRect">
            <a:avLst>
              <a:gd name="adj" fmla="val 23810"/>
            </a:avLst>
          </a:prstGeom>
          <a:solidFill>
            <a:srgbClr val="FFFFFF">
              <a:alpha val="10000"/>
            </a:srgbClr>
          </a:solidFill>
          <a:ln w="12700">
            <a:solidFill>
              <a:srgbClr val="374151"/>
            </a:solidFill>
            <a:prstDash val="dash"/>
          </a:ln>
        </p:spPr>
        <p:txBody>
          <a:bodyPr/>
          <a:lstStyle/>
          <a:p>
            <a:endParaRPr lang="en-US"/>
          </a:p>
        </p:txBody>
      </p:sp>
      <p:sp>
        <p:nvSpPr>
          <p:cNvPr id="29" name="Text 27"/>
          <p:cNvSpPr/>
          <p:nvPr/>
        </p:nvSpPr>
        <p:spPr>
          <a:xfrm>
            <a:off x="548640" y="4572000"/>
            <a:ext cx="8046720" cy="384048"/>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GitHub Projects publish — NO AI involved — calls github-mcp-server tools directly via MCP stdio</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457200"/>
          </a:xfrm>
          <a:prstGeom prst="rect">
            <a:avLst/>
          </a:prstGeom>
          <a:noFill/>
          <a:ln/>
        </p:spPr>
        <p:txBody>
          <a:bodyPr wrap="square" rtlCol="0" anchor="ctr"/>
          <a:lstStyle/>
          <a:p>
            <a:pPr marL="0" indent="0">
              <a:buNone/>
            </a:pPr>
            <a:r>
              <a:rPr lang="en-US" sz="2600" b="1" dirty="0">
                <a:solidFill>
                  <a:srgbClr val="1E2761"/>
                </a:solidFill>
                <a:latin typeface="Calibri" pitchFamily="34" charset="0"/>
                <a:ea typeface="Calibri" pitchFamily="34" charset="-122"/>
                <a:cs typeface="Calibri" pitchFamily="34" charset="-120"/>
              </a:rPr>
              <a:t>GitHub MCP Architecture Detail</a:t>
            </a:r>
            <a:endParaRPr lang="en-US" sz="2600" dirty="0"/>
          </a:p>
        </p:txBody>
      </p:sp>
      <p:sp>
        <p:nvSpPr>
          <p:cNvPr id="3" name="Shape 1"/>
          <p:cNvSpPr/>
          <p:nvPr/>
        </p:nvSpPr>
        <p:spPr>
          <a:xfrm>
            <a:off x="274320" y="822960"/>
            <a:ext cx="4937760" cy="3931920"/>
          </a:xfrm>
          <a:prstGeom prst="roundRect">
            <a:avLst>
              <a:gd name="adj" fmla="val 3256"/>
            </a:avLst>
          </a:prstGeom>
          <a:solidFill>
            <a:srgbClr val="EDE9FE"/>
          </a:solidFill>
          <a:ln w="19050">
            <a:solidFill>
              <a:srgbClr val="5B21B6"/>
            </a:solidFill>
            <a:prstDash val="solid"/>
          </a:ln>
        </p:spPr>
        <p:txBody>
          <a:bodyPr/>
          <a:lstStyle/>
          <a:p>
            <a:endParaRPr lang="en-US"/>
          </a:p>
        </p:txBody>
      </p:sp>
      <p:sp>
        <p:nvSpPr>
          <p:cNvPr id="4" name="Text 2"/>
          <p:cNvSpPr/>
          <p:nvPr/>
        </p:nvSpPr>
        <p:spPr>
          <a:xfrm>
            <a:off x="411480" y="850392"/>
            <a:ext cx="2743200" cy="274320"/>
          </a:xfrm>
          <a:prstGeom prst="rect">
            <a:avLst/>
          </a:prstGeom>
          <a:noFill/>
          <a:ln/>
        </p:spPr>
        <p:txBody>
          <a:bodyPr wrap="square" rtlCol="0" anchor="ctr"/>
          <a:lstStyle/>
          <a:p>
            <a:pPr marL="0" indent="0">
              <a:buNone/>
            </a:pPr>
            <a:r>
              <a:rPr lang="en-US" sz="1200" b="1" dirty="0">
                <a:solidFill>
                  <a:srgbClr val="5B21B6"/>
                </a:solidFill>
                <a:latin typeface="Calibri" pitchFamily="34" charset="0"/>
                <a:ea typeface="Calibri" pitchFamily="34" charset="-122"/>
                <a:cs typeface="Calibri" pitchFamily="34" charset="-120"/>
              </a:rPr>
              <a:t>NestJS Process</a:t>
            </a:r>
            <a:endParaRPr lang="en-US" sz="1200" dirty="0"/>
          </a:p>
        </p:txBody>
      </p:sp>
      <p:sp>
        <p:nvSpPr>
          <p:cNvPr id="5" name="Shape 3"/>
          <p:cNvSpPr/>
          <p:nvPr/>
        </p:nvSpPr>
        <p:spPr>
          <a:xfrm>
            <a:off x="457200" y="1207008"/>
            <a:ext cx="4526280" cy="1810512"/>
          </a:xfrm>
          <a:prstGeom prst="roundRect">
            <a:avLst>
              <a:gd name="adj" fmla="val 5051"/>
            </a:avLst>
          </a:prstGeom>
          <a:solidFill>
            <a:srgbClr val="FFEDD5"/>
          </a:solidFill>
          <a:ln w="15240">
            <a:solidFill>
              <a:srgbClr val="C2410C"/>
            </a:solidFill>
            <a:prstDash val="solid"/>
          </a:ln>
        </p:spPr>
        <p:txBody>
          <a:bodyPr/>
          <a:lstStyle/>
          <a:p>
            <a:endParaRPr lang="en-US"/>
          </a:p>
        </p:txBody>
      </p:sp>
      <p:sp>
        <p:nvSpPr>
          <p:cNvPr id="6" name="Text 4"/>
          <p:cNvSpPr/>
          <p:nvPr/>
        </p:nvSpPr>
        <p:spPr>
          <a:xfrm>
            <a:off x="594360" y="1243584"/>
            <a:ext cx="4297680" cy="237744"/>
          </a:xfrm>
          <a:prstGeom prst="rect">
            <a:avLst/>
          </a:prstGeom>
          <a:noFill/>
          <a:ln/>
        </p:spPr>
        <p:txBody>
          <a:bodyPr wrap="square" rtlCol="0" anchor="ctr"/>
          <a:lstStyle/>
          <a:p>
            <a:pPr marL="0" indent="0">
              <a:buNone/>
            </a:pPr>
            <a:r>
              <a:rPr lang="en-US" sz="1000" b="1" dirty="0">
                <a:solidFill>
                  <a:srgbClr val="C2410C"/>
                </a:solidFill>
                <a:latin typeface="Calibri" pitchFamily="34" charset="0"/>
                <a:ea typeface="Calibri" pitchFamily="34" charset="-122"/>
                <a:cs typeface="Calibri" pitchFamily="34" charset="-120"/>
              </a:rPr>
              <a:t>GithubMcpModule  (@Global singleton)</a:t>
            </a:r>
            <a:endParaRPr lang="en-US" sz="1000" dirty="0"/>
          </a:p>
        </p:txBody>
      </p:sp>
      <p:sp>
        <p:nvSpPr>
          <p:cNvPr id="7" name="Shape 5"/>
          <p:cNvSpPr/>
          <p:nvPr/>
        </p:nvSpPr>
        <p:spPr>
          <a:xfrm>
            <a:off x="594360" y="1572768"/>
            <a:ext cx="4206240" cy="530352"/>
          </a:xfrm>
          <a:prstGeom prst="roundRect">
            <a:avLst>
              <a:gd name="adj" fmla="val 13793"/>
            </a:avLst>
          </a:prstGeom>
          <a:solidFill>
            <a:srgbClr val="C2410C"/>
          </a:solidFill>
          <a:ln/>
        </p:spPr>
        <p:txBody>
          <a:bodyPr/>
          <a:lstStyle/>
          <a:p>
            <a:endParaRPr lang="en-US"/>
          </a:p>
        </p:txBody>
      </p:sp>
      <p:sp>
        <p:nvSpPr>
          <p:cNvPr id="8" name="Text 6"/>
          <p:cNvSpPr/>
          <p:nvPr/>
        </p:nvSpPr>
        <p:spPr>
          <a:xfrm>
            <a:off x="667512" y="1618488"/>
            <a:ext cx="4059936" cy="219456"/>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GithubMcpCredentialsService</a:t>
            </a:r>
            <a:endParaRPr lang="en-US" sz="950" dirty="0"/>
          </a:p>
        </p:txBody>
      </p:sp>
      <p:sp>
        <p:nvSpPr>
          <p:cNvPr id="9" name="Text 7"/>
          <p:cNvSpPr/>
          <p:nvPr/>
        </p:nvSpPr>
        <p:spPr>
          <a:xfrm>
            <a:off x="667512" y="1837944"/>
            <a:ext cx="4059936" cy="201168"/>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reads GITHUB_TOKEN from .env</a:t>
            </a:r>
            <a:endParaRPr lang="en-US" sz="850" dirty="0"/>
          </a:p>
        </p:txBody>
      </p:sp>
      <p:sp>
        <p:nvSpPr>
          <p:cNvPr id="10" name="Shape 8"/>
          <p:cNvSpPr/>
          <p:nvPr/>
        </p:nvSpPr>
        <p:spPr>
          <a:xfrm>
            <a:off x="594360" y="2231136"/>
            <a:ext cx="4206240" cy="530352"/>
          </a:xfrm>
          <a:prstGeom prst="roundRect">
            <a:avLst>
              <a:gd name="adj" fmla="val 13793"/>
            </a:avLst>
          </a:prstGeom>
          <a:solidFill>
            <a:srgbClr val="C2410C"/>
          </a:solidFill>
          <a:ln/>
        </p:spPr>
        <p:txBody>
          <a:bodyPr/>
          <a:lstStyle/>
          <a:p>
            <a:endParaRPr lang="en-US"/>
          </a:p>
        </p:txBody>
      </p:sp>
      <p:sp>
        <p:nvSpPr>
          <p:cNvPr id="11" name="Text 9"/>
          <p:cNvSpPr/>
          <p:nvPr/>
        </p:nvSpPr>
        <p:spPr>
          <a:xfrm>
            <a:off x="667512" y="2276856"/>
            <a:ext cx="4059936" cy="219456"/>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GithubMcpClientService</a:t>
            </a:r>
            <a:endParaRPr lang="en-US" sz="950" dirty="0"/>
          </a:p>
        </p:txBody>
      </p:sp>
      <p:sp>
        <p:nvSpPr>
          <p:cNvPr id="12" name="Text 10"/>
          <p:cNvSpPr/>
          <p:nvPr/>
        </p:nvSpPr>
        <p:spPr>
          <a:xfrm>
            <a:off x="667512" y="2496312"/>
            <a:ext cx="4059936" cy="201168"/>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callTool(name, args) → MCP stdio</a:t>
            </a:r>
            <a:endParaRPr lang="en-US" sz="850" dirty="0"/>
          </a:p>
        </p:txBody>
      </p:sp>
      <p:sp>
        <p:nvSpPr>
          <p:cNvPr id="13" name="Text 11"/>
          <p:cNvSpPr/>
          <p:nvPr/>
        </p:nvSpPr>
        <p:spPr>
          <a:xfrm>
            <a:off x="594360" y="3127248"/>
            <a:ext cx="4297680" cy="548640"/>
          </a:xfrm>
          <a:prstGeom prst="rect">
            <a:avLst/>
          </a:prstGeom>
          <a:noFill/>
          <a:ln/>
        </p:spPr>
        <p:txBody>
          <a:bodyPr wrap="square" rtlCol="0" anchor="ctr"/>
          <a:lstStyle/>
          <a:p>
            <a:pPr marL="0" indent="0">
              <a:buNone/>
            </a:pPr>
            <a:r>
              <a:rPr lang="en-US" sz="850" dirty="0">
                <a:solidFill>
                  <a:srgbClr val="C2410C"/>
                </a:solidFill>
                <a:latin typeface="Courier New" pitchFamily="34" charset="0"/>
                <a:ea typeface="Courier New" pitchFamily="34" charset="-122"/>
                <a:cs typeface="Courier New" pitchFamily="34" charset="-120"/>
              </a:rPr>
              <a:t>OnModuleInit: spawns subprocess</a:t>
            </a:r>
            <a:endParaRPr lang="en-US" sz="850" dirty="0"/>
          </a:p>
          <a:p>
            <a:pPr marL="0" indent="0">
              <a:buNone/>
            </a:pPr>
            <a:r>
              <a:rPr lang="en-US" sz="850" dirty="0">
                <a:solidFill>
                  <a:srgbClr val="C2410C"/>
                </a:solidFill>
                <a:latin typeface="Courier New" pitchFamily="34" charset="0"/>
                <a:ea typeface="Courier New" pitchFamily="34" charset="-122"/>
                <a:cs typeface="Courier New" pitchFamily="34" charset="-120"/>
              </a:rPr>
              <a:t>  dev: npx -y github-mcp-server stdio</a:t>
            </a:r>
            <a:endParaRPr lang="en-US" sz="850" dirty="0"/>
          </a:p>
          <a:p>
            <a:pPr marL="0" indent="0">
              <a:buNone/>
            </a:pPr>
            <a:r>
              <a:rPr lang="en-US" sz="850" dirty="0">
                <a:solidFill>
                  <a:srgbClr val="C2410C"/>
                </a:solidFill>
                <a:latin typeface="Courier New" pitchFamily="34" charset="0"/>
                <a:ea typeface="Courier New" pitchFamily="34" charset="-122"/>
                <a:cs typeface="Courier New" pitchFamily="34" charset="-120"/>
              </a:rPr>
              <a:t>  pkg: node &lt;execDir&gt;/mcp-cli.js stdio</a:t>
            </a:r>
            <a:endParaRPr lang="en-US" sz="850" dirty="0"/>
          </a:p>
        </p:txBody>
      </p:sp>
      <p:sp>
        <p:nvSpPr>
          <p:cNvPr id="14" name="Shape 12"/>
          <p:cNvSpPr/>
          <p:nvPr/>
        </p:nvSpPr>
        <p:spPr>
          <a:xfrm>
            <a:off x="457200" y="3749040"/>
            <a:ext cx="4526280" cy="868680"/>
          </a:xfrm>
          <a:prstGeom prst="roundRect">
            <a:avLst>
              <a:gd name="adj" fmla="val 10526"/>
            </a:avLst>
          </a:prstGeom>
          <a:solidFill>
            <a:srgbClr val="F3F4F6"/>
          </a:solidFill>
          <a:ln w="12700">
            <a:solidFill>
              <a:srgbClr val="374151"/>
            </a:solidFill>
            <a:prstDash val="solid"/>
          </a:ln>
        </p:spPr>
        <p:txBody>
          <a:bodyPr/>
          <a:lstStyle/>
          <a:p>
            <a:endParaRPr lang="en-US"/>
          </a:p>
        </p:txBody>
      </p:sp>
      <p:sp>
        <p:nvSpPr>
          <p:cNvPr id="15" name="Text 13"/>
          <p:cNvSpPr/>
          <p:nvPr/>
        </p:nvSpPr>
        <p:spPr>
          <a:xfrm>
            <a:off x="594360" y="3776472"/>
            <a:ext cx="4206240" cy="219456"/>
          </a:xfrm>
          <a:prstGeom prst="rect">
            <a:avLst/>
          </a:prstGeom>
          <a:noFill/>
          <a:ln/>
        </p:spPr>
        <p:txBody>
          <a:bodyPr wrap="square" rtlCol="0" anchor="ctr"/>
          <a:lstStyle/>
          <a:p>
            <a:pPr marL="0" indent="0">
              <a:buNone/>
            </a:pPr>
            <a:r>
              <a:rPr lang="en-US" sz="1000" b="1" dirty="0">
                <a:solidFill>
                  <a:srgbClr val="374151"/>
                </a:solidFill>
                <a:latin typeface="Calibri" pitchFamily="34" charset="0"/>
                <a:ea typeface="Calibri" pitchFamily="34" charset="-122"/>
                <a:cs typeface="Calibri" pitchFamily="34" charset="-120"/>
              </a:rPr>
              <a:t>GithubProjectsModule</a:t>
            </a:r>
            <a:endParaRPr lang="en-US" sz="1000" dirty="0"/>
          </a:p>
        </p:txBody>
      </p:sp>
      <p:sp>
        <p:nvSpPr>
          <p:cNvPr id="16" name="Text 14"/>
          <p:cNvSpPr/>
          <p:nvPr/>
        </p:nvSpPr>
        <p:spPr>
          <a:xfrm>
            <a:off x="594360" y="4005072"/>
            <a:ext cx="4206240" cy="548640"/>
          </a:xfrm>
          <a:prstGeom prst="rect">
            <a:avLst/>
          </a:prstGeom>
          <a:noFill/>
          <a:ln/>
        </p:spPr>
        <p:txBody>
          <a:bodyPr wrap="square" rtlCol="0" anchor="ctr"/>
          <a:lstStyle/>
          <a:p>
            <a:pPr marL="0" indent="0">
              <a:buNone/>
            </a:pPr>
            <a:r>
              <a:rPr lang="en-US" sz="850" dirty="0">
                <a:solidFill>
                  <a:srgbClr val="1F2937"/>
                </a:solidFill>
                <a:latin typeface="Calibri" pitchFamily="34" charset="0"/>
                <a:ea typeface="Calibri" pitchFamily="34" charset="-122"/>
                <a:cs typeface="Calibri" pitchFamily="34" charset="-120"/>
              </a:rPr>
              <a:t>GithubProjectsService  ·  GithubProjectsContextService  ·  GithubProjectsPublishService  ·  GithubProjectsController</a:t>
            </a:r>
            <a:endParaRPr lang="en-US" sz="850" dirty="0"/>
          </a:p>
        </p:txBody>
      </p:sp>
      <p:sp>
        <p:nvSpPr>
          <p:cNvPr id="17" name="Shape 15"/>
          <p:cNvSpPr/>
          <p:nvPr/>
        </p:nvSpPr>
        <p:spPr>
          <a:xfrm>
            <a:off x="5394960" y="822960"/>
            <a:ext cx="3474720" cy="3931920"/>
          </a:xfrm>
          <a:prstGeom prst="roundRect">
            <a:avLst>
              <a:gd name="adj" fmla="val 3684"/>
            </a:avLst>
          </a:prstGeom>
          <a:solidFill>
            <a:srgbClr val="F3F4F6"/>
          </a:solidFill>
          <a:ln/>
        </p:spPr>
        <p:txBody>
          <a:bodyPr/>
          <a:lstStyle/>
          <a:p>
            <a:endParaRPr lang="en-US"/>
          </a:p>
        </p:txBody>
      </p:sp>
      <p:sp>
        <p:nvSpPr>
          <p:cNvPr id="18" name="Text 16"/>
          <p:cNvSpPr/>
          <p:nvPr/>
        </p:nvSpPr>
        <p:spPr>
          <a:xfrm>
            <a:off x="5532120" y="868680"/>
            <a:ext cx="3291840" cy="274320"/>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API endpoints  /api/github-projects/</a:t>
            </a:r>
            <a:endParaRPr lang="en-US" sz="1000" dirty="0"/>
          </a:p>
        </p:txBody>
      </p:sp>
      <p:sp>
        <p:nvSpPr>
          <p:cNvPr id="19" name="Shape 17"/>
          <p:cNvSpPr/>
          <p:nvPr/>
        </p:nvSpPr>
        <p:spPr>
          <a:xfrm>
            <a:off x="5532120" y="1243584"/>
            <a:ext cx="3200400" cy="548640"/>
          </a:xfrm>
          <a:prstGeom prst="roundRect">
            <a:avLst>
              <a:gd name="adj" fmla="val 13333"/>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0" name="Shape 18"/>
          <p:cNvSpPr/>
          <p:nvPr/>
        </p:nvSpPr>
        <p:spPr>
          <a:xfrm>
            <a:off x="5577840" y="1335024"/>
            <a:ext cx="475488" cy="237744"/>
          </a:xfrm>
          <a:prstGeom prst="roundRect">
            <a:avLst>
              <a:gd name="adj" fmla="val 19231"/>
            </a:avLst>
          </a:prstGeom>
          <a:solidFill>
            <a:srgbClr val="028090"/>
          </a:solidFill>
          <a:ln/>
        </p:spPr>
        <p:txBody>
          <a:bodyPr/>
          <a:lstStyle/>
          <a:p>
            <a:endParaRPr lang="en-US"/>
          </a:p>
        </p:txBody>
      </p:sp>
      <p:sp>
        <p:nvSpPr>
          <p:cNvPr id="21" name="Text 19"/>
          <p:cNvSpPr/>
          <p:nvPr/>
        </p:nvSpPr>
        <p:spPr>
          <a:xfrm>
            <a:off x="5577840" y="1335024"/>
            <a:ext cx="475488"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GET</a:t>
            </a:r>
            <a:endParaRPr lang="en-US" sz="800" dirty="0"/>
          </a:p>
        </p:txBody>
      </p:sp>
      <p:sp>
        <p:nvSpPr>
          <p:cNvPr id="22" name="Text 20"/>
          <p:cNvSpPr/>
          <p:nvPr/>
        </p:nvSpPr>
        <p:spPr>
          <a:xfrm>
            <a:off x="6089904" y="1316736"/>
            <a:ext cx="2560320" cy="219456"/>
          </a:xfrm>
          <a:prstGeom prst="rect">
            <a:avLst/>
          </a:prstGeom>
          <a:noFill/>
          <a:ln/>
        </p:spPr>
        <p:txBody>
          <a:bodyPr wrap="square" rtlCol="0" anchor="ctr"/>
          <a:lstStyle/>
          <a:p>
            <a:pPr marL="0" indent="0">
              <a:buNone/>
            </a:pPr>
            <a:r>
              <a:rPr lang="en-US" sz="950" b="1" dirty="0">
                <a:solidFill>
                  <a:srgbClr val="1F2937"/>
                </a:solidFill>
                <a:latin typeface="Courier New" pitchFamily="34" charset="0"/>
                <a:ea typeface="Courier New" pitchFamily="34" charset="-122"/>
                <a:cs typeface="Courier New" pitchFamily="34" charset="-120"/>
              </a:rPr>
              <a:t>/status</a:t>
            </a:r>
            <a:endParaRPr lang="en-US" sz="950" dirty="0"/>
          </a:p>
        </p:txBody>
      </p:sp>
      <p:sp>
        <p:nvSpPr>
          <p:cNvPr id="23" name="Text 21"/>
          <p:cNvSpPr/>
          <p:nvPr/>
        </p:nvSpPr>
        <p:spPr>
          <a:xfrm>
            <a:off x="6089904" y="1536192"/>
            <a:ext cx="2560320" cy="201168"/>
          </a:xfrm>
          <a:prstGeom prst="rect">
            <a:avLst/>
          </a:prstGeom>
          <a:noFill/>
          <a:ln/>
        </p:spPr>
        <p:txBody>
          <a:bodyPr wrap="square" rtlCol="0" anchor="ctr"/>
          <a:lstStyle/>
          <a:p>
            <a:pPr marL="0" indent="0">
              <a:buNone/>
            </a:pPr>
            <a:r>
              <a:rPr lang="en-US" sz="850" dirty="0">
                <a:solidFill>
                  <a:srgbClr val="6B7280"/>
                </a:solidFill>
                <a:latin typeface="Calibri" pitchFamily="34" charset="0"/>
                <a:ea typeface="Calibri" pitchFamily="34" charset="-122"/>
                <a:cs typeface="Calibri" pitchFamily="34" charset="-120"/>
              </a:rPr>
              <a:t>Connection state + board</a:t>
            </a:r>
            <a:endParaRPr lang="en-US" sz="850" dirty="0"/>
          </a:p>
        </p:txBody>
      </p:sp>
      <p:sp>
        <p:nvSpPr>
          <p:cNvPr id="24" name="Shape 22"/>
          <p:cNvSpPr/>
          <p:nvPr/>
        </p:nvSpPr>
        <p:spPr>
          <a:xfrm>
            <a:off x="5532120" y="1901952"/>
            <a:ext cx="3200400" cy="548640"/>
          </a:xfrm>
          <a:prstGeom prst="roundRect">
            <a:avLst>
              <a:gd name="adj" fmla="val 13333"/>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5" name="Shape 23"/>
          <p:cNvSpPr/>
          <p:nvPr/>
        </p:nvSpPr>
        <p:spPr>
          <a:xfrm>
            <a:off x="5577840" y="1993392"/>
            <a:ext cx="475488" cy="237744"/>
          </a:xfrm>
          <a:prstGeom prst="roundRect">
            <a:avLst>
              <a:gd name="adj" fmla="val 19231"/>
            </a:avLst>
          </a:prstGeom>
          <a:solidFill>
            <a:srgbClr val="028090"/>
          </a:solidFill>
          <a:ln/>
        </p:spPr>
        <p:txBody>
          <a:bodyPr/>
          <a:lstStyle/>
          <a:p>
            <a:endParaRPr lang="en-US"/>
          </a:p>
        </p:txBody>
      </p:sp>
      <p:sp>
        <p:nvSpPr>
          <p:cNvPr id="26" name="Text 24"/>
          <p:cNvSpPr/>
          <p:nvPr/>
        </p:nvSpPr>
        <p:spPr>
          <a:xfrm>
            <a:off x="5577840" y="1993392"/>
            <a:ext cx="475488"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GET</a:t>
            </a:r>
            <a:endParaRPr lang="en-US" sz="800" dirty="0"/>
          </a:p>
        </p:txBody>
      </p:sp>
      <p:sp>
        <p:nvSpPr>
          <p:cNvPr id="27" name="Text 25"/>
          <p:cNvSpPr/>
          <p:nvPr/>
        </p:nvSpPr>
        <p:spPr>
          <a:xfrm>
            <a:off x="6089904" y="1975104"/>
            <a:ext cx="2560320" cy="219456"/>
          </a:xfrm>
          <a:prstGeom prst="rect">
            <a:avLst/>
          </a:prstGeom>
          <a:noFill/>
          <a:ln/>
        </p:spPr>
        <p:txBody>
          <a:bodyPr wrap="square" rtlCol="0" anchor="ctr"/>
          <a:lstStyle/>
          <a:p>
            <a:pPr marL="0" indent="0">
              <a:buNone/>
            </a:pPr>
            <a:r>
              <a:rPr lang="en-US" sz="950" b="1" dirty="0">
                <a:solidFill>
                  <a:srgbClr val="1F2937"/>
                </a:solidFill>
                <a:latin typeface="Courier New" pitchFamily="34" charset="0"/>
                <a:ea typeface="Courier New" pitchFamily="34" charset="-122"/>
                <a:cs typeface="Courier New" pitchFamily="34" charset="-120"/>
              </a:rPr>
              <a:t>/boards</a:t>
            </a:r>
            <a:endParaRPr lang="en-US" sz="950" dirty="0"/>
          </a:p>
        </p:txBody>
      </p:sp>
      <p:sp>
        <p:nvSpPr>
          <p:cNvPr id="28" name="Text 26"/>
          <p:cNvSpPr/>
          <p:nvPr/>
        </p:nvSpPr>
        <p:spPr>
          <a:xfrm>
            <a:off x="6089904" y="2194560"/>
            <a:ext cx="2560320" cy="201168"/>
          </a:xfrm>
          <a:prstGeom prst="rect">
            <a:avLst/>
          </a:prstGeom>
          <a:noFill/>
          <a:ln/>
        </p:spPr>
        <p:txBody>
          <a:bodyPr wrap="square" rtlCol="0" anchor="ctr"/>
          <a:lstStyle/>
          <a:p>
            <a:pPr marL="0" indent="0">
              <a:buNone/>
            </a:pPr>
            <a:r>
              <a:rPr lang="en-US" sz="850" dirty="0">
                <a:solidFill>
                  <a:srgbClr val="6B7280"/>
                </a:solidFill>
                <a:latin typeface="Calibri" pitchFamily="34" charset="0"/>
                <a:ea typeface="Calibri" pitchFamily="34" charset="-122"/>
                <a:cs typeface="Calibri" pitchFamily="34" charset="-120"/>
              </a:rPr>
              <a:t>List user's boards</a:t>
            </a:r>
            <a:endParaRPr lang="en-US" sz="850" dirty="0"/>
          </a:p>
        </p:txBody>
      </p:sp>
      <p:sp>
        <p:nvSpPr>
          <p:cNvPr id="29" name="Shape 27"/>
          <p:cNvSpPr/>
          <p:nvPr/>
        </p:nvSpPr>
        <p:spPr>
          <a:xfrm>
            <a:off x="5532120" y="2560320"/>
            <a:ext cx="3200400" cy="548640"/>
          </a:xfrm>
          <a:prstGeom prst="roundRect">
            <a:avLst>
              <a:gd name="adj" fmla="val 13333"/>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0" name="Shape 28"/>
          <p:cNvSpPr/>
          <p:nvPr/>
        </p:nvSpPr>
        <p:spPr>
          <a:xfrm>
            <a:off x="5577840" y="2651760"/>
            <a:ext cx="475488" cy="237744"/>
          </a:xfrm>
          <a:prstGeom prst="roundRect">
            <a:avLst>
              <a:gd name="adj" fmla="val 19231"/>
            </a:avLst>
          </a:prstGeom>
          <a:solidFill>
            <a:srgbClr val="5B21B6"/>
          </a:solidFill>
          <a:ln/>
        </p:spPr>
        <p:txBody>
          <a:bodyPr/>
          <a:lstStyle/>
          <a:p>
            <a:endParaRPr lang="en-US"/>
          </a:p>
        </p:txBody>
      </p:sp>
      <p:sp>
        <p:nvSpPr>
          <p:cNvPr id="31" name="Text 29"/>
          <p:cNvSpPr/>
          <p:nvPr/>
        </p:nvSpPr>
        <p:spPr>
          <a:xfrm>
            <a:off x="5577840" y="2651760"/>
            <a:ext cx="475488"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POST</a:t>
            </a:r>
            <a:endParaRPr lang="en-US" sz="800" dirty="0"/>
          </a:p>
        </p:txBody>
      </p:sp>
      <p:sp>
        <p:nvSpPr>
          <p:cNvPr id="32" name="Text 30"/>
          <p:cNvSpPr/>
          <p:nvPr/>
        </p:nvSpPr>
        <p:spPr>
          <a:xfrm>
            <a:off x="6089904" y="2633472"/>
            <a:ext cx="2560320" cy="219456"/>
          </a:xfrm>
          <a:prstGeom prst="rect">
            <a:avLst/>
          </a:prstGeom>
          <a:noFill/>
          <a:ln/>
        </p:spPr>
        <p:txBody>
          <a:bodyPr wrap="square" rtlCol="0" anchor="ctr"/>
          <a:lstStyle/>
          <a:p>
            <a:pPr marL="0" indent="0">
              <a:buNone/>
            </a:pPr>
            <a:r>
              <a:rPr lang="en-US" sz="950" b="1" dirty="0">
                <a:solidFill>
                  <a:srgbClr val="1F2937"/>
                </a:solidFill>
                <a:latin typeface="Courier New" pitchFamily="34" charset="0"/>
                <a:ea typeface="Courier New" pitchFamily="34" charset="-122"/>
                <a:cs typeface="Courier New" pitchFamily="34" charset="-120"/>
              </a:rPr>
              <a:t>/configure</a:t>
            </a:r>
            <a:endParaRPr lang="en-US" sz="950" dirty="0"/>
          </a:p>
        </p:txBody>
      </p:sp>
      <p:sp>
        <p:nvSpPr>
          <p:cNvPr id="33" name="Text 31"/>
          <p:cNvSpPr/>
          <p:nvPr/>
        </p:nvSpPr>
        <p:spPr>
          <a:xfrm>
            <a:off x="6089904" y="2852928"/>
            <a:ext cx="2560320" cy="201168"/>
          </a:xfrm>
          <a:prstGeom prst="rect">
            <a:avLst/>
          </a:prstGeom>
          <a:noFill/>
          <a:ln/>
        </p:spPr>
        <p:txBody>
          <a:bodyPr wrap="square" rtlCol="0" anchor="ctr"/>
          <a:lstStyle/>
          <a:p>
            <a:pPr marL="0" indent="0">
              <a:buNone/>
            </a:pPr>
            <a:r>
              <a:rPr lang="en-US" sz="850" dirty="0">
                <a:solidFill>
                  <a:srgbClr val="6B7280"/>
                </a:solidFill>
                <a:latin typeface="Calibri" pitchFamily="34" charset="0"/>
                <a:ea typeface="Calibri" pitchFamily="34" charset="-122"/>
                <a:cs typeface="Calibri" pitchFamily="34" charset="-120"/>
              </a:rPr>
              <a:t>Store owner, project, repo</a:t>
            </a:r>
            <a:endParaRPr lang="en-US" sz="850" dirty="0"/>
          </a:p>
        </p:txBody>
      </p:sp>
      <p:sp>
        <p:nvSpPr>
          <p:cNvPr id="34" name="Shape 32"/>
          <p:cNvSpPr/>
          <p:nvPr/>
        </p:nvSpPr>
        <p:spPr>
          <a:xfrm>
            <a:off x="5532120" y="3218688"/>
            <a:ext cx="3200400" cy="548640"/>
          </a:xfrm>
          <a:prstGeom prst="roundRect">
            <a:avLst>
              <a:gd name="adj" fmla="val 13333"/>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5" name="Shape 33"/>
          <p:cNvSpPr/>
          <p:nvPr/>
        </p:nvSpPr>
        <p:spPr>
          <a:xfrm>
            <a:off x="5577840" y="3310128"/>
            <a:ext cx="475488" cy="237744"/>
          </a:xfrm>
          <a:prstGeom prst="roundRect">
            <a:avLst>
              <a:gd name="adj" fmla="val 19231"/>
            </a:avLst>
          </a:prstGeom>
          <a:solidFill>
            <a:srgbClr val="028090"/>
          </a:solidFill>
          <a:ln/>
        </p:spPr>
        <p:txBody>
          <a:bodyPr/>
          <a:lstStyle/>
          <a:p>
            <a:endParaRPr lang="en-US"/>
          </a:p>
        </p:txBody>
      </p:sp>
      <p:sp>
        <p:nvSpPr>
          <p:cNvPr id="36" name="Text 34"/>
          <p:cNvSpPr/>
          <p:nvPr/>
        </p:nvSpPr>
        <p:spPr>
          <a:xfrm>
            <a:off x="5577840" y="3310128"/>
            <a:ext cx="475488"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GET</a:t>
            </a:r>
            <a:endParaRPr lang="en-US" sz="800" dirty="0"/>
          </a:p>
        </p:txBody>
      </p:sp>
      <p:sp>
        <p:nvSpPr>
          <p:cNvPr id="37" name="Text 35"/>
          <p:cNvSpPr/>
          <p:nvPr/>
        </p:nvSpPr>
        <p:spPr>
          <a:xfrm>
            <a:off x="6089904" y="3291840"/>
            <a:ext cx="2560320" cy="219456"/>
          </a:xfrm>
          <a:prstGeom prst="rect">
            <a:avLst/>
          </a:prstGeom>
          <a:noFill/>
          <a:ln/>
        </p:spPr>
        <p:txBody>
          <a:bodyPr wrap="square" rtlCol="0" anchor="ctr"/>
          <a:lstStyle/>
          <a:p>
            <a:pPr marL="0" indent="0">
              <a:buNone/>
            </a:pPr>
            <a:r>
              <a:rPr lang="en-US" sz="950" b="1" dirty="0">
                <a:solidFill>
                  <a:srgbClr val="1F2937"/>
                </a:solidFill>
                <a:latin typeface="Courier New" pitchFamily="34" charset="0"/>
                <a:ea typeface="Courier New" pitchFamily="34" charset="-122"/>
                <a:cs typeface="Courier New" pitchFamily="34" charset="-120"/>
              </a:rPr>
              <a:t>/items</a:t>
            </a:r>
            <a:endParaRPr lang="en-US" sz="950" dirty="0"/>
          </a:p>
        </p:txBody>
      </p:sp>
      <p:sp>
        <p:nvSpPr>
          <p:cNvPr id="38" name="Text 36"/>
          <p:cNvSpPr/>
          <p:nvPr/>
        </p:nvSpPr>
        <p:spPr>
          <a:xfrm>
            <a:off x="6089904" y="3511296"/>
            <a:ext cx="2560320" cy="201168"/>
          </a:xfrm>
          <a:prstGeom prst="rect">
            <a:avLst/>
          </a:prstGeom>
          <a:noFill/>
          <a:ln/>
        </p:spPr>
        <p:txBody>
          <a:bodyPr wrap="square" rtlCol="0" anchor="ctr"/>
          <a:lstStyle/>
          <a:p>
            <a:pPr marL="0" indent="0">
              <a:buNone/>
            </a:pPr>
            <a:r>
              <a:rPr lang="en-US" sz="850" dirty="0">
                <a:solidFill>
                  <a:srgbClr val="6B7280"/>
                </a:solidFill>
                <a:latin typeface="Calibri" pitchFamily="34" charset="0"/>
                <a:ea typeface="Calibri" pitchFamily="34" charset="-122"/>
                <a:cs typeface="Calibri" pitchFamily="34" charset="-120"/>
              </a:rPr>
              <a:t>Fetch live board items</a:t>
            </a:r>
            <a:endParaRPr lang="en-US" sz="850" dirty="0"/>
          </a:p>
        </p:txBody>
      </p:sp>
      <p:sp>
        <p:nvSpPr>
          <p:cNvPr id="39" name="Shape 37"/>
          <p:cNvSpPr/>
          <p:nvPr/>
        </p:nvSpPr>
        <p:spPr>
          <a:xfrm>
            <a:off x="5532120" y="3877056"/>
            <a:ext cx="3200400" cy="548640"/>
          </a:xfrm>
          <a:prstGeom prst="roundRect">
            <a:avLst>
              <a:gd name="adj" fmla="val 13333"/>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0" name="Shape 38"/>
          <p:cNvSpPr/>
          <p:nvPr/>
        </p:nvSpPr>
        <p:spPr>
          <a:xfrm>
            <a:off x="5577840" y="3968496"/>
            <a:ext cx="475488" cy="237744"/>
          </a:xfrm>
          <a:prstGeom prst="roundRect">
            <a:avLst>
              <a:gd name="adj" fmla="val 19231"/>
            </a:avLst>
          </a:prstGeom>
          <a:solidFill>
            <a:srgbClr val="5B21B6"/>
          </a:solidFill>
          <a:ln/>
        </p:spPr>
        <p:txBody>
          <a:bodyPr/>
          <a:lstStyle/>
          <a:p>
            <a:endParaRPr lang="en-US"/>
          </a:p>
        </p:txBody>
      </p:sp>
      <p:sp>
        <p:nvSpPr>
          <p:cNvPr id="41" name="Text 39"/>
          <p:cNvSpPr/>
          <p:nvPr/>
        </p:nvSpPr>
        <p:spPr>
          <a:xfrm>
            <a:off x="5577840" y="3968496"/>
            <a:ext cx="475488"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POST</a:t>
            </a:r>
            <a:endParaRPr lang="en-US" sz="800" dirty="0"/>
          </a:p>
        </p:txBody>
      </p:sp>
      <p:sp>
        <p:nvSpPr>
          <p:cNvPr id="42" name="Text 40"/>
          <p:cNvSpPr/>
          <p:nvPr/>
        </p:nvSpPr>
        <p:spPr>
          <a:xfrm>
            <a:off x="6089904" y="3950208"/>
            <a:ext cx="2560320" cy="219456"/>
          </a:xfrm>
          <a:prstGeom prst="rect">
            <a:avLst/>
          </a:prstGeom>
          <a:noFill/>
          <a:ln/>
        </p:spPr>
        <p:txBody>
          <a:bodyPr wrap="square" rtlCol="0" anchor="ctr"/>
          <a:lstStyle/>
          <a:p>
            <a:pPr marL="0" indent="0">
              <a:buNone/>
            </a:pPr>
            <a:r>
              <a:rPr lang="en-US" sz="950" b="1" dirty="0">
                <a:solidFill>
                  <a:srgbClr val="1F2937"/>
                </a:solidFill>
                <a:latin typeface="Courier New" pitchFamily="34" charset="0"/>
                <a:ea typeface="Courier New" pitchFamily="34" charset="-122"/>
                <a:cs typeface="Courier New" pitchFamily="34" charset="-120"/>
              </a:rPr>
              <a:t>/publish</a:t>
            </a:r>
            <a:endParaRPr lang="en-US" sz="950" dirty="0"/>
          </a:p>
        </p:txBody>
      </p:sp>
      <p:sp>
        <p:nvSpPr>
          <p:cNvPr id="43" name="Text 41"/>
          <p:cNvSpPr/>
          <p:nvPr/>
        </p:nvSpPr>
        <p:spPr>
          <a:xfrm>
            <a:off x="6089904" y="4169664"/>
            <a:ext cx="2560320" cy="201168"/>
          </a:xfrm>
          <a:prstGeom prst="rect">
            <a:avLst/>
          </a:prstGeom>
          <a:noFill/>
          <a:ln/>
        </p:spPr>
        <p:txBody>
          <a:bodyPr wrap="square" rtlCol="0" anchor="ctr"/>
          <a:lstStyle/>
          <a:p>
            <a:pPr marL="0" indent="0">
              <a:buNone/>
            </a:pPr>
            <a:r>
              <a:rPr lang="en-US" sz="850" dirty="0">
                <a:solidFill>
                  <a:srgbClr val="6B7280"/>
                </a:solidFill>
                <a:latin typeface="Calibri" pitchFamily="34" charset="0"/>
                <a:ea typeface="Calibri" pitchFamily="34" charset="-122"/>
                <a:cs typeface="Calibri" pitchFamily="34" charset="-120"/>
              </a:rPr>
              <a:t>Create issues + add to board</a:t>
            </a:r>
            <a:endParaRPr lang="en-US" sz="850" dirty="0"/>
          </a:p>
        </p:txBody>
      </p:sp>
      <p:sp>
        <p:nvSpPr>
          <p:cNvPr id="44" name="Shape 42"/>
          <p:cNvSpPr/>
          <p:nvPr/>
        </p:nvSpPr>
        <p:spPr>
          <a:xfrm>
            <a:off x="1645920" y="4343400"/>
            <a:ext cx="0" cy="502920"/>
          </a:xfrm>
          <a:prstGeom prst="line">
            <a:avLst/>
          </a:prstGeom>
          <a:noFill/>
          <a:ln w="25400">
            <a:solidFill>
              <a:srgbClr val="C2410C"/>
            </a:solidFill>
            <a:prstDash val="solid"/>
            <a:tailEnd type="arrow"/>
          </a:ln>
        </p:spPr>
        <p:txBody>
          <a:bodyPr/>
          <a:lstStyle/>
          <a:p>
            <a:endParaRPr lang="en-US"/>
          </a:p>
        </p:txBody>
      </p:sp>
      <p:sp>
        <p:nvSpPr>
          <p:cNvPr id="45" name="Text 43"/>
          <p:cNvSpPr/>
          <p:nvPr/>
        </p:nvSpPr>
        <p:spPr>
          <a:xfrm>
            <a:off x="1828800" y="4480560"/>
            <a:ext cx="1371600" cy="201168"/>
          </a:xfrm>
          <a:prstGeom prst="rect">
            <a:avLst/>
          </a:prstGeom>
          <a:noFill/>
          <a:ln/>
        </p:spPr>
        <p:txBody>
          <a:bodyPr wrap="square" rtlCol="0" anchor="ctr"/>
          <a:lstStyle/>
          <a:p>
            <a:pPr marL="0" indent="0">
              <a:buNone/>
            </a:pPr>
            <a:r>
              <a:rPr lang="en-US" sz="850" dirty="0">
                <a:solidFill>
                  <a:srgbClr val="C2410C"/>
                </a:solidFill>
                <a:latin typeface="Calibri" pitchFamily="34" charset="0"/>
                <a:ea typeface="Calibri" pitchFamily="34" charset="-122"/>
                <a:cs typeface="Calibri" pitchFamily="34" charset="-120"/>
              </a:rPr>
              <a:t>MCP stdio</a:t>
            </a:r>
            <a:endParaRPr lang="en-US" sz="850" dirty="0"/>
          </a:p>
        </p:txBody>
      </p:sp>
      <p:sp>
        <p:nvSpPr>
          <p:cNvPr id="46" name="Shape 44"/>
          <p:cNvSpPr/>
          <p:nvPr/>
        </p:nvSpPr>
        <p:spPr>
          <a:xfrm>
            <a:off x="457200" y="4800600"/>
            <a:ext cx="4526280" cy="201168"/>
          </a:xfrm>
          <a:prstGeom prst="roundRect">
            <a:avLst/>
          </a:prstGeom>
          <a:noFill/>
          <a:ln/>
        </p:spPr>
        <p:txBody>
          <a:bodyPr/>
          <a:lstStyle/>
          <a:p>
            <a:endParaRPr lang="en-US"/>
          </a:p>
        </p:txBody>
      </p:sp>
      <p:sp>
        <p:nvSpPr>
          <p:cNvPr id="47" name="Shape 45"/>
          <p:cNvSpPr/>
          <p:nvPr/>
        </p:nvSpPr>
        <p:spPr>
          <a:xfrm>
            <a:off x="274320" y="4791456"/>
            <a:ext cx="4937760" cy="274320"/>
          </a:xfrm>
          <a:prstGeom prst="roundRect">
            <a:avLst>
              <a:gd name="adj" fmla="val 26667"/>
            </a:avLst>
          </a:prstGeom>
          <a:solidFill>
            <a:srgbClr val="C2410C"/>
          </a:solidFill>
          <a:ln/>
        </p:spPr>
        <p:txBody>
          <a:bodyPr/>
          <a:lstStyle/>
          <a:p>
            <a:endParaRPr lang="en-US"/>
          </a:p>
        </p:txBody>
      </p:sp>
      <p:sp>
        <p:nvSpPr>
          <p:cNvPr id="48" name="Text 46"/>
          <p:cNvSpPr/>
          <p:nvPr/>
        </p:nvSpPr>
        <p:spPr>
          <a:xfrm>
            <a:off x="320040" y="4791456"/>
            <a:ext cx="4846320" cy="2743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github-mcp-server subprocess  (npm v1.8.7, stdio)  →  GitHub Projects v2 GraphQL API</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Deployment &amp; Key Facts</a:t>
            </a:r>
            <a:endParaRPr lang="en-US" sz="2800" dirty="0"/>
          </a:p>
        </p:txBody>
      </p:sp>
      <p:sp>
        <p:nvSpPr>
          <p:cNvPr id="3" name="Shape 1"/>
          <p:cNvSpPr/>
          <p:nvPr/>
        </p:nvSpPr>
        <p:spPr>
          <a:xfrm>
            <a:off x="457200" y="914400"/>
            <a:ext cx="3931920" cy="1316736"/>
          </a:xfrm>
          <a:prstGeom prst="roundRect">
            <a:avLst>
              <a:gd name="adj" fmla="val 8333"/>
            </a:avLst>
          </a:prstGeom>
          <a:solidFill>
            <a:srgbClr val="FFFFFF">
              <a:alpha val="8000"/>
            </a:srgbClr>
          </a:solidFill>
          <a:ln w="12700">
            <a:solidFill>
              <a:srgbClr val="3B5BA0"/>
            </a:solidFill>
            <a:prstDash val="solid"/>
          </a:ln>
        </p:spPr>
        <p:txBody>
          <a:bodyPr/>
          <a:lstStyle/>
          <a:p>
            <a:endParaRPr lang="en-US"/>
          </a:p>
        </p:txBody>
      </p:sp>
      <p:sp>
        <p:nvSpPr>
          <p:cNvPr id="4" name="Text 2"/>
          <p:cNvSpPr/>
          <p:nvPr/>
        </p:nvSpPr>
        <p:spPr>
          <a:xfrm>
            <a:off x="594360" y="1005840"/>
            <a:ext cx="3657600" cy="292608"/>
          </a:xfrm>
          <a:prstGeom prst="rect">
            <a:avLst/>
          </a:prstGeom>
          <a:noFill/>
          <a:ln/>
        </p:spPr>
        <p:txBody>
          <a:bodyPr wrap="square"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  Single executable</a:t>
            </a:r>
            <a:endParaRPr lang="en-US" sz="1200" dirty="0"/>
          </a:p>
        </p:txBody>
      </p:sp>
      <p:sp>
        <p:nvSpPr>
          <p:cNvPr id="5" name="Text 3"/>
          <p:cNvSpPr/>
          <p:nvPr/>
        </p:nvSpPr>
        <p:spPr>
          <a:xfrm>
            <a:off x="594360" y="1316736"/>
            <a:ext cx="3657600" cy="82296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pkg bundles NestJS + Angular + Node.js runtime into backlog-assistant.exe (~60 MB, Windows x64). No separate install required.</a:t>
            </a:r>
            <a:endParaRPr lang="en-US" sz="1000" dirty="0"/>
          </a:p>
        </p:txBody>
      </p:sp>
      <p:sp>
        <p:nvSpPr>
          <p:cNvPr id="6" name="Shape 4"/>
          <p:cNvSpPr/>
          <p:nvPr/>
        </p:nvSpPr>
        <p:spPr>
          <a:xfrm>
            <a:off x="4663440" y="914400"/>
            <a:ext cx="3931920" cy="1316736"/>
          </a:xfrm>
          <a:prstGeom prst="roundRect">
            <a:avLst>
              <a:gd name="adj" fmla="val 8333"/>
            </a:avLst>
          </a:prstGeom>
          <a:solidFill>
            <a:srgbClr val="FFFFFF">
              <a:alpha val="8000"/>
            </a:srgbClr>
          </a:solidFill>
          <a:ln w="12700">
            <a:solidFill>
              <a:srgbClr val="3B5BA0"/>
            </a:solidFill>
            <a:prstDash val="solid"/>
          </a:ln>
        </p:spPr>
        <p:txBody>
          <a:bodyPr/>
          <a:lstStyle/>
          <a:p>
            <a:endParaRPr lang="en-US"/>
          </a:p>
        </p:txBody>
      </p:sp>
      <p:sp>
        <p:nvSpPr>
          <p:cNvPr id="7" name="Text 5"/>
          <p:cNvSpPr/>
          <p:nvPr/>
        </p:nvSpPr>
        <p:spPr>
          <a:xfrm>
            <a:off x="4800600" y="1005840"/>
            <a:ext cx="3657600" cy="292608"/>
          </a:xfrm>
          <a:prstGeom prst="rect">
            <a:avLst/>
          </a:prstGeom>
          <a:noFill/>
          <a:ln/>
        </p:spPr>
        <p:txBody>
          <a:bodyPr wrap="square"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  Credential boundary</a:t>
            </a:r>
            <a:endParaRPr lang="en-US" sz="1200" dirty="0"/>
          </a:p>
        </p:txBody>
      </p:sp>
      <p:sp>
        <p:nvSpPr>
          <p:cNvPr id="8" name="Text 6"/>
          <p:cNvSpPr/>
          <p:nvPr/>
        </p:nvSpPr>
        <p:spPr>
          <a:xfrm>
            <a:off x="4800600" y="1316736"/>
            <a:ext cx="3657600" cy="82296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GithubMcpCredentialsService is the sole reader of GITHUB_TOKEN. The raw token is only passed into the subprocess environment — never in logs or API responses.</a:t>
            </a:r>
            <a:endParaRPr lang="en-US" sz="1000" dirty="0"/>
          </a:p>
        </p:txBody>
      </p:sp>
      <p:sp>
        <p:nvSpPr>
          <p:cNvPr id="9" name="Shape 7"/>
          <p:cNvSpPr/>
          <p:nvPr/>
        </p:nvSpPr>
        <p:spPr>
          <a:xfrm>
            <a:off x="457200" y="2505456"/>
            <a:ext cx="3931920" cy="1316736"/>
          </a:xfrm>
          <a:prstGeom prst="roundRect">
            <a:avLst>
              <a:gd name="adj" fmla="val 8333"/>
            </a:avLst>
          </a:prstGeom>
          <a:solidFill>
            <a:srgbClr val="FFFFFF">
              <a:alpha val="8000"/>
            </a:srgbClr>
          </a:solidFill>
          <a:ln w="12700">
            <a:solidFill>
              <a:srgbClr val="3B5BA0"/>
            </a:solidFill>
            <a:prstDash val="solid"/>
          </a:ln>
        </p:spPr>
        <p:txBody>
          <a:bodyPr/>
          <a:lstStyle/>
          <a:p>
            <a:endParaRPr lang="en-US"/>
          </a:p>
        </p:txBody>
      </p:sp>
      <p:sp>
        <p:nvSpPr>
          <p:cNvPr id="10" name="Text 8"/>
          <p:cNvSpPr/>
          <p:nvPr/>
        </p:nvSpPr>
        <p:spPr>
          <a:xfrm>
            <a:off x="594360" y="2596896"/>
            <a:ext cx="3657600" cy="292608"/>
          </a:xfrm>
          <a:prstGeom prst="rect">
            <a:avLst/>
          </a:prstGeom>
          <a:noFill/>
          <a:ln/>
        </p:spPr>
        <p:txBody>
          <a:bodyPr wrap="square"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  No server-side persistence</a:t>
            </a:r>
            <a:endParaRPr lang="en-US" sz="1200" dirty="0"/>
          </a:p>
        </p:txBody>
      </p:sp>
      <p:sp>
        <p:nvSpPr>
          <p:cNvPr id="11" name="Text 9"/>
          <p:cNvSpPr/>
          <p:nvPr/>
        </p:nvSpPr>
        <p:spPr>
          <a:xfrm>
            <a:off x="594360" y="2907792"/>
            <a:ext cx="3657600" cy="82296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Session ends when the browser tab closes. All state is held in-memory via BehaviorSubject. No database required.</a:t>
            </a:r>
            <a:endParaRPr lang="en-US" sz="1000" dirty="0"/>
          </a:p>
        </p:txBody>
      </p:sp>
      <p:sp>
        <p:nvSpPr>
          <p:cNvPr id="12" name="Shape 10"/>
          <p:cNvSpPr/>
          <p:nvPr/>
        </p:nvSpPr>
        <p:spPr>
          <a:xfrm>
            <a:off x="4663440" y="2505456"/>
            <a:ext cx="3931920" cy="1316736"/>
          </a:xfrm>
          <a:prstGeom prst="roundRect">
            <a:avLst>
              <a:gd name="adj" fmla="val 8333"/>
            </a:avLst>
          </a:prstGeom>
          <a:solidFill>
            <a:srgbClr val="FFFFFF">
              <a:alpha val="8000"/>
            </a:srgbClr>
          </a:solidFill>
          <a:ln w="12700">
            <a:solidFill>
              <a:srgbClr val="3B5BA0"/>
            </a:solidFill>
            <a:prstDash val="solid"/>
          </a:ln>
        </p:spPr>
        <p:txBody>
          <a:bodyPr/>
          <a:lstStyle/>
          <a:p>
            <a:endParaRPr lang="en-US"/>
          </a:p>
        </p:txBody>
      </p:sp>
      <p:sp>
        <p:nvSpPr>
          <p:cNvPr id="13" name="Text 11"/>
          <p:cNvSpPr/>
          <p:nvPr/>
        </p:nvSpPr>
        <p:spPr>
          <a:xfrm>
            <a:off x="4800600" y="2596896"/>
            <a:ext cx="3657600" cy="292608"/>
          </a:xfrm>
          <a:prstGeom prst="rect">
            <a:avLst/>
          </a:prstGeom>
          <a:noFill/>
          <a:ln/>
        </p:spPr>
        <p:txBody>
          <a:bodyPr wrap="square"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  Idempotent publishing</a:t>
            </a:r>
            <a:endParaRPr lang="en-US" sz="1200" dirty="0"/>
          </a:p>
        </p:txBody>
      </p:sp>
      <p:sp>
        <p:nvSpPr>
          <p:cNvPr id="14" name="Text 12"/>
          <p:cNvSpPr/>
          <p:nvPr/>
        </p:nvSpPr>
        <p:spPr>
          <a:xfrm>
            <a:off x="4800600" y="2907792"/>
            <a:ext cx="3657600" cy="82296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Re-publishing to GitHub skips already-created issues, tracked in-memory by internalItemId.</a:t>
            </a:r>
            <a:endParaRPr lang="en-US" sz="1000" dirty="0"/>
          </a:p>
        </p:txBody>
      </p:sp>
      <p:sp>
        <p:nvSpPr>
          <p:cNvPr id="15" name="Shape 13"/>
          <p:cNvSpPr/>
          <p:nvPr/>
        </p:nvSpPr>
        <p:spPr>
          <a:xfrm>
            <a:off x="457200" y="4096512"/>
            <a:ext cx="3931920" cy="1316736"/>
          </a:xfrm>
          <a:prstGeom prst="roundRect">
            <a:avLst>
              <a:gd name="adj" fmla="val 8333"/>
            </a:avLst>
          </a:prstGeom>
          <a:solidFill>
            <a:srgbClr val="FFFFFF">
              <a:alpha val="8000"/>
            </a:srgbClr>
          </a:solidFill>
          <a:ln w="12700">
            <a:solidFill>
              <a:srgbClr val="3B5BA0"/>
            </a:solidFill>
            <a:prstDash val="solid"/>
          </a:ln>
        </p:spPr>
        <p:txBody>
          <a:bodyPr/>
          <a:lstStyle/>
          <a:p>
            <a:endParaRPr lang="en-US"/>
          </a:p>
        </p:txBody>
      </p:sp>
      <p:sp>
        <p:nvSpPr>
          <p:cNvPr id="16" name="Text 14"/>
          <p:cNvSpPr/>
          <p:nvPr/>
        </p:nvSpPr>
        <p:spPr>
          <a:xfrm>
            <a:off x="594360" y="4187952"/>
            <a:ext cx="3657600" cy="292608"/>
          </a:xfrm>
          <a:prstGeom prst="rect">
            <a:avLst/>
          </a:prstGeom>
          <a:noFill/>
          <a:ln/>
        </p:spPr>
        <p:txBody>
          <a:bodyPr wrap="square"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  Model pinned</a:t>
            </a:r>
            <a:endParaRPr lang="en-US" sz="1200" dirty="0"/>
          </a:p>
        </p:txBody>
      </p:sp>
      <p:sp>
        <p:nvSpPr>
          <p:cNvPr id="17" name="Text 15"/>
          <p:cNvSpPr/>
          <p:nvPr/>
        </p:nvSpPr>
        <p:spPr>
          <a:xfrm>
            <a:off x="594360" y="4498848"/>
            <a:ext cx="3657600" cy="82296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claude-sonnet-4-6 is pinned in constants (MODEL_ID). See ADR-003 for model pinning rationale.</a:t>
            </a:r>
            <a:endParaRPr lang="en-US" sz="1000" dirty="0"/>
          </a:p>
        </p:txBody>
      </p:sp>
      <p:sp>
        <p:nvSpPr>
          <p:cNvPr id="18" name="Shape 16"/>
          <p:cNvSpPr/>
          <p:nvPr/>
        </p:nvSpPr>
        <p:spPr>
          <a:xfrm>
            <a:off x="4663440" y="4096512"/>
            <a:ext cx="3931920" cy="1316736"/>
          </a:xfrm>
          <a:prstGeom prst="roundRect">
            <a:avLst>
              <a:gd name="adj" fmla="val 8333"/>
            </a:avLst>
          </a:prstGeom>
          <a:solidFill>
            <a:srgbClr val="FFFFFF">
              <a:alpha val="8000"/>
            </a:srgbClr>
          </a:solidFill>
          <a:ln w="12700">
            <a:solidFill>
              <a:srgbClr val="3B5BA0"/>
            </a:solidFill>
            <a:prstDash val="solid"/>
          </a:ln>
        </p:spPr>
        <p:txBody>
          <a:bodyPr/>
          <a:lstStyle/>
          <a:p>
            <a:endParaRPr lang="en-US"/>
          </a:p>
        </p:txBody>
      </p:sp>
      <p:sp>
        <p:nvSpPr>
          <p:cNvPr id="19" name="Text 17"/>
          <p:cNvSpPr/>
          <p:nvPr/>
        </p:nvSpPr>
        <p:spPr>
          <a:xfrm>
            <a:off x="4800600" y="4187952"/>
            <a:ext cx="3657600" cy="292608"/>
          </a:xfrm>
          <a:prstGeom prst="rect">
            <a:avLst/>
          </a:prstGeom>
          <a:noFill/>
          <a:ln/>
        </p:spPr>
        <p:txBody>
          <a:bodyPr wrap="square"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  Monorepo structure</a:t>
            </a:r>
            <a:endParaRPr lang="en-US" sz="1200" dirty="0"/>
          </a:p>
        </p:txBody>
      </p:sp>
      <p:sp>
        <p:nvSpPr>
          <p:cNvPr id="20" name="Text 18"/>
          <p:cNvSpPr/>
          <p:nvPr/>
        </p:nvSpPr>
        <p:spPr>
          <a:xfrm>
            <a:off x="4800600" y="4498848"/>
            <a:ext cx="3657600" cy="82296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Nx monorepo: apps/web (Angular), apps/api (NestJS), libs/shared. Single build pipeline, shared types and DTOs.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816</Words>
  <Application>Microsoft Office PowerPoint</Application>
  <PresentationFormat>On-screen Show (16:9)</PresentationFormat>
  <Paragraphs>178</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Backlog Assistant — Architecture</dc:title>
  <dc:subject>PptxGenJS Presentation</dc:subject>
  <dc:creator>PptxGenJS</dc:creator>
  <cp:lastModifiedBy>Kumar, Dhiraj</cp:lastModifiedBy>
  <cp:revision>2</cp:revision>
  <dcterms:created xsi:type="dcterms:W3CDTF">2026-07-08T08:27:07Z</dcterms:created>
  <dcterms:modified xsi:type="dcterms:W3CDTF">2026-07-08T08:45:06Z</dcterms:modified>
</cp:coreProperties>
</file>